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9. In the proposal we promised an alert system that ranks bank accounts by money laundering risk. Today we show the working system: a daily pipeline on Airflow, models tracked in MLflow, a batch alert list and a real-time API, and a monitor that already caught drift. About 10 minutes, then a short demo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problem. Banks in Singapore must monitor transactions under MAS Notice 626. Fixed rules are noisy: on our data the classic "amount above 10,000" rule raises 1.37 million alerts with 0.18% precision. Investigators can only open so many cases, and MAS FEAT expects every AI-assisted alert to be explainable. So the product is a ranked list: each morning the 500 riskiest accounts, each with three reasons, plus an API for one-off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RFC feedback shaped the build, so here is what we did with it. We now compare three models instead of only XGBoost. On imbalance, we actually tested class weights and they made the ranking about ten times worse, so we rank accounts and report precision at K. Several of you suggested using relationships between accounts: we added six graph features. The architecture now shows how batch and online connect. And we explain why SHAP and how we split by time. Two other changes: HI-Small instead of HI-Large so it runs on a laptop, and LightGBM instead of XGBoost.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in three Airflow DAGs. The data DAG runs every day: bronze and silver ingest the day's transactions, then three gold stores: account features in PySpark, graph features in networkx, and labels. The training DAG has no schedule. A person runs it, for the first models or after a drift alert, and it registers the models in MLflow. The inference DAG runs every morning: it loads the champion and the shadow models from MLflow, writes the alert list, keeps every score, then runs the monitor. The three DAGs only talk through the stores, the same split into feature, training and inference pipelines we saw in Session 7. At the bottom, the FastAPI service. The key point for the feedback: the API does not compute its own features; it reads the same feature store and loads the same champion alias, so both give the same score. Locally everything starts with docker compose up, and replaying the ten days takes about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out-of-time question. Every snapshot is a morning. Features use only the four days before it, in blue. The label, in orange, is whether the account sends a laundering payment in the next two days. Train, validation and test are three different mornings, and their label windows never overlap, so nothing from the future leaks into training. Because labels arrive two days late, each daily run builds tomorrow's features and closes yesterday's labels. Per account we have 24 features from PySpark and 6 graph features. We checked that the Spark pipeline reproduces our EDA prototype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on exactly the same snapshots: logistic regression as the simple baseline, LightGBM, and LightGBM with the graph features. Each LightGBM gets a 20-try random search with early stopping on the validation day, and every try is logged in MLflow. On the right is the imbalance answer: we put class weights into the search, and every weighted try was far worse, about ten times lower PR-AUC. So we keep the natural class balance and measure with precision at K. On validation the graph model was only 3% better, which is noise with 565 positives, so our rule picks the simpler LightGBM as champion and keeps the graph model in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models live in one MLflow registered model. Nothing in the code points to a file; it points to an alias. The champion feeds the alert list and the API. The challenger is scored every day but never shown: that is our shadow deployment. The baseline, logistic regression, is not scored every day; each training run draws the champion and the challenger against it, so we can see they are clearly better. Retraining is never automatic: when the monitor raises a drift alert, a person decides whether to run the training DAG. Its two new models only run in shadow, next to the champion, and the old challenger stops. The rule for better is written down: at least three labelled days with higher precision at 500, and no other metric worse. When a shadow model meets it, a person runs one command, model promote. It gives one new model the champion alias and the other the challenger alias, records who did it and why, and tells the API to reload. The API also checks the alias every minute, so every API container follows. Then it is one champion and one challenger again. It works like a blue-green switch, and rollback is the same command with the old version. We tested promotion and rollback while the API was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doors, one model. On the left, the morning list from the batch job in the inference DAG: account, score and reasons. These are the top three accounts on September 9, and all three were real laundering accounts. The challenger is scored on the same accounts and kept for the monitor, but never shown. On the right, the same account through the API: same score, 0.4467, same reasons, and it tells the investigator the account is already rank one in today's list. The batch job scores 250 thousand accounts in seconds; the API answers in about 5 milliseconds after it caches the snapshot. The API keeps no state of its own, so it can scale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 runs after every batch, in the inference DAG. It checks model quality when labels arrive, data drift and score drift with PSI, feature attribution drift with SHAP shares, and data quality. On the left, what the champion relies on: mostly how large the received amounts are, then recency. ACH is only 5%, less than we feared from the EDA. On the right, the first production day: hours since last transaction moved a lot, PSI 1.87. The cause is the calendar: our training window included a weekend and the test window did not. The monitor does not retrain by itself. It writes a drift alert as an error in the log and in an alert file, and a person decides. We reviewed it and ran the training DAG; its two new models, versions 5 and 6, now run in shadow next to the champion, and the training chart shows them well above the logistic regression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on the test day, September 9, which the monitor evaluated once, when its labels arrived. The champion's list of 500 held 47 laundering accounts: 2.2 times the best rule and 45 times a random list. The top is very dense: 9 of the first 10 accounts. The blue line is the champion. The orange line is the shadow challenger with graph features: 69 accounts in its top 500, plus 4.2 points, and the paired bootstrap interval is 2.2 to 6.2 points. So on this day the graph features clearly helped, even though they did not on validation. That is exactly why we ran it in shadow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IBM's pattern file lets us ask which laundering patterns we catch. At 2,000 accounts we catch a third of fan-out and a quarter of the gather and scatter patterns. Graph features matter most on stack and bipartite, the layered patterns you only see in an account's neighbourhood. Fan-in is the weak spot: each source sends one ordinary payment, and nothing at account level gives it away. And there is a hard ceiling: a quarter of the launderers had no activity in the four days before, so no model on these features can score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limits. The data is synthetic, and signals like the ACH share come from the simulator. We have one labelled test day, so the intervals are wide. Our four-day windows mix weekdays and weekends, which caused the drift we saw. And a quarter of launderers have no recent history. With real data we would use investigator decisions as labels, use seven-day or volume-normalised features, add KYC data for new accounts, and move the same containers to AWS. Our recommendation: keep the graph model in shadow a few more days, and if it keeps winning, promote it by moving the alias.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If there is time, a quick demo: the Airflow DAG with ten green runs, the model versions and aliases in MLflow, and an API call for the top account.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4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55750"/>
            <a:ext cx="10566400" cy="4089450"/>
          </a:xfrm>
          <a:prstGeom prst="rect">
            <a:avLst/>
          </a:prstGeom>
          <a:noFill/>
          <a:ln/>
        </p:spPr>
        <p:txBody>
          <a:bodyPr wrap="square" lIns="0" tIns="0" rIns="0" bIns="0" rtlCol="0" anchor="t"/>
          <a:lstStyle>
            <a:lvl1pPr algn="l" indent="0" marL="0">
              <a:lnSpc>
                <a:spcPct val="140000"/>
              </a:lnSpc>
              <a:buNone/>
              <a:defRPr lang="en-US" sz="1600" dirty="0">
                <a:solidFill>
                  <a:srgbClr val="1624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4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55750"/>
            <a:ext cx="10566400" cy="4089450"/>
          </a:xfrm>
          <a:prstGeom prst="rect">
            <a:avLst/>
          </a:prstGeom>
          <a:noFill/>
          <a:ln/>
        </p:spPr>
        <p:txBody>
          <a:bodyPr wrap="square" lIns="0" tIns="0" rIns="0" bIns="0" rtlCol="0" anchor="t"/>
          <a:lstStyle>
            <a:lvl1pPr algn="l" indent="0" marL="0">
              <a:lnSpc>
                <a:spcPct val="140000"/>
              </a:lnSpc>
              <a:buNone/>
              <a:defRPr lang="en-US" sz="1600" dirty="0">
                <a:solidFill>
                  <a:srgbClr val="1624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823200" y="1651000"/>
            <a:ext cx="3556000" cy="3556000"/>
          </a:xfrm>
          <a:prstGeom prst="rect">
            <a:avLst/>
          </a:prstGeom>
        </p:spPr>
      </p:pic>
      <p:sp>
        <p:nvSpPr>
          <p:cNvPr id="3" name="Text 0"/>
          <p:cNvSpPr/>
          <p:nvPr/>
        </p:nvSpPr>
        <p:spPr>
          <a:xfrm>
            <a:off x="812800" y="2029520"/>
            <a:ext cx="693293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CS611 MACHINE LEARNING ENGINEERING · FINAL PRESENTATION</a:t>
            </a:r>
            <a:endParaRPr lang="en-US" sz="1200" dirty="0"/>
          </a:p>
        </p:txBody>
      </p:sp>
      <p:sp>
        <p:nvSpPr>
          <p:cNvPr id="4" name="Text 1"/>
          <p:cNvSpPr/>
          <p:nvPr>
            <p:ph type="title"/>
          </p:nvPr>
        </p:nvSpPr>
        <p:spPr>
          <a:xfrm>
            <a:off x="812800" y="2446040"/>
            <a:ext cx="6932930"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F"/>
                </a:solidFill>
                <a:latin typeface="IBM Plex Sans" pitchFamily="34" charset="0"/>
                <a:ea typeface="IBM Plex Sans" pitchFamily="34" charset="-122"/>
                <a:cs typeface="IBM Plex Sans" pitchFamily="34" charset="-120"/>
              </a:rPr>
              <a:t>AML Alert System</a:t>
            </a:r>
            <a:endParaRPr lang="en-US" sz="5600" dirty="0"/>
          </a:p>
        </p:txBody>
      </p:sp>
      <p:sp>
        <p:nvSpPr>
          <p:cNvPr id="5" name="Text 2"/>
          <p:cNvSpPr/>
          <p:nvPr/>
        </p:nvSpPr>
        <p:spPr>
          <a:xfrm>
            <a:off x="812800" y="3395960"/>
            <a:ext cx="693293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2E0"/>
                </a:solidFill>
                <a:latin typeface="IBM Plex Sans" pitchFamily="34" charset="0"/>
                <a:ea typeface="IBM Plex Sans" pitchFamily="34" charset="-122"/>
                <a:cs typeface="IBM Plex Sans" pitchFamily="34" charset="-120"/>
              </a:rPr>
              <a:t>Ranking suspicious bank accounts every morning, with reasons an investigator can check</a:t>
            </a:r>
            <a:endParaRPr lang="en-US" sz="2000" dirty="0"/>
          </a:p>
        </p:txBody>
      </p:sp>
      <p:sp>
        <p:nvSpPr>
          <p:cNvPr id="6" name="Text 3"/>
          <p:cNvSpPr/>
          <p:nvPr/>
        </p:nvSpPr>
        <p:spPr>
          <a:xfrm>
            <a:off x="812800" y="4259560"/>
            <a:ext cx="6932930"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C9D2E0"/>
                </a:solidFill>
                <a:latin typeface="IBM Plex Sans" pitchFamily="34" charset="0"/>
                <a:ea typeface="IBM Plex Sans" pitchFamily="34" charset="-122"/>
                <a:cs typeface="IBM Plex Sans" pitchFamily="34" charset="-120"/>
              </a:rPr>
              <a:t>Group 9 · Zhou Jie · Ho Wee Loong · Joyce Teo Hua Sze · Abinav Shajil · Alekhya Kodavatiganti · Zachary Artemus Kondas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WHY IT MATTERS</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Investigators need a ranked list</a:t>
            </a:r>
            <a:endParaRPr lang="en-US" sz="3200" dirty="0"/>
          </a:p>
        </p:txBody>
      </p:sp>
      <p:sp>
        <p:nvSpPr>
          <p:cNvPr id="4" name="Shape 2"/>
          <p:cNvSpPr/>
          <p:nvPr/>
        </p:nvSpPr>
        <p:spPr>
          <a:xfrm>
            <a:off x="815975" y="1831925"/>
            <a:ext cx="3380284" cy="1540421"/>
          </a:xfrm>
          <a:prstGeom prst="roundRect">
            <a:avLst>
              <a:gd name="adj" fmla="val 4741"/>
            </a:avLst>
          </a:prstGeom>
          <a:solidFill>
            <a:srgbClr val="FDFCFA"/>
          </a:solidFill>
          <a:ln w="6350">
            <a:solidFill>
              <a:srgbClr val="E3DFD4"/>
            </a:solidFill>
            <a:prstDash val="solid"/>
          </a:ln>
        </p:spPr>
      </p:sp>
      <p:sp>
        <p:nvSpPr>
          <p:cNvPr id="5" name="Text 3"/>
          <p:cNvSpPr/>
          <p:nvPr/>
        </p:nvSpPr>
        <p:spPr>
          <a:xfrm>
            <a:off x="1022350" y="2038300"/>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Rules are noisy</a:t>
            </a:r>
            <a:endParaRPr lang="en-US" sz="2000" dirty="0"/>
          </a:p>
        </p:txBody>
      </p:sp>
      <p:sp>
        <p:nvSpPr>
          <p:cNvPr id="6" name="Text 4"/>
          <p:cNvSpPr/>
          <p:nvPr/>
        </p:nvSpPr>
        <p:spPr>
          <a:xfrm>
            <a:off x="1022350" y="2419300"/>
            <a:ext cx="305656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"Amount above 10,000" gives 1.37M alerts at 0.18% precision on our data.</a:t>
            </a:r>
            <a:endParaRPr lang="en-US" sz="1400" dirty="0"/>
          </a:p>
        </p:txBody>
      </p:sp>
      <p:sp>
        <p:nvSpPr>
          <p:cNvPr id="7" name="Shape 5"/>
          <p:cNvSpPr/>
          <p:nvPr/>
        </p:nvSpPr>
        <p:spPr>
          <a:xfrm>
            <a:off x="4405809" y="1831925"/>
            <a:ext cx="3380333" cy="1540421"/>
          </a:xfrm>
          <a:prstGeom prst="roundRect">
            <a:avLst>
              <a:gd name="adj" fmla="val 4741"/>
            </a:avLst>
          </a:prstGeom>
          <a:solidFill>
            <a:srgbClr val="FDFCFA"/>
          </a:solidFill>
          <a:ln w="6350">
            <a:solidFill>
              <a:srgbClr val="E3DFD4"/>
            </a:solidFill>
            <a:prstDash val="solid"/>
          </a:ln>
        </p:spPr>
      </p:sp>
      <p:sp>
        <p:nvSpPr>
          <p:cNvPr id="8" name="Text 6"/>
          <p:cNvSpPr/>
          <p:nvPr/>
        </p:nvSpPr>
        <p:spPr>
          <a:xfrm>
            <a:off x="4612184" y="2038300"/>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Time is scarce</a:t>
            </a:r>
            <a:endParaRPr lang="en-US" sz="2000" dirty="0"/>
          </a:p>
        </p:txBody>
      </p:sp>
      <p:sp>
        <p:nvSpPr>
          <p:cNvPr id="9" name="Text 7"/>
          <p:cNvSpPr/>
          <p:nvPr/>
        </p:nvSpPr>
        <p:spPr>
          <a:xfrm>
            <a:off x="4612184" y="2419300"/>
            <a:ext cx="30566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An investigator can only open a fixed number of cases a day.</a:t>
            </a:r>
            <a:endParaRPr lang="en-US" sz="1400" dirty="0"/>
          </a:p>
        </p:txBody>
      </p:sp>
      <p:sp>
        <p:nvSpPr>
          <p:cNvPr id="10" name="Shape 8"/>
          <p:cNvSpPr/>
          <p:nvPr/>
        </p:nvSpPr>
        <p:spPr>
          <a:xfrm>
            <a:off x="7995692" y="1831925"/>
            <a:ext cx="3380333" cy="1540421"/>
          </a:xfrm>
          <a:prstGeom prst="roundRect">
            <a:avLst>
              <a:gd name="adj" fmla="val 4741"/>
            </a:avLst>
          </a:prstGeom>
          <a:solidFill>
            <a:srgbClr val="FDFCFA"/>
          </a:solidFill>
          <a:ln w="6350">
            <a:solidFill>
              <a:srgbClr val="E3DFD4"/>
            </a:solidFill>
            <a:prstDash val="solid"/>
          </a:ln>
        </p:spPr>
      </p:sp>
      <p:sp>
        <p:nvSpPr>
          <p:cNvPr id="11" name="Text 9"/>
          <p:cNvSpPr/>
          <p:nvPr/>
        </p:nvSpPr>
        <p:spPr>
          <a:xfrm>
            <a:off x="8202067" y="2038300"/>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Reasons required</a:t>
            </a:r>
            <a:endParaRPr lang="en-US" sz="2000" dirty="0"/>
          </a:p>
        </p:txBody>
      </p:sp>
      <p:sp>
        <p:nvSpPr>
          <p:cNvPr id="12" name="Text 10"/>
          <p:cNvSpPr/>
          <p:nvPr/>
        </p:nvSpPr>
        <p:spPr>
          <a:xfrm>
            <a:off x="8202067" y="2419300"/>
            <a:ext cx="30566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MAS FEAT: an AI-assisted alert must be explainable and accountable.</a:t>
            </a:r>
            <a:endParaRPr lang="en-US" sz="1400" dirty="0"/>
          </a:p>
        </p:txBody>
      </p:sp>
      <p:sp>
        <p:nvSpPr>
          <p:cNvPr id="13" name="Shape 11"/>
          <p:cNvSpPr/>
          <p:nvPr/>
        </p:nvSpPr>
        <p:spPr>
          <a:xfrm>
            <a:off x="812800" y="3553321"/>
            <a:ext cx="10566400" cy="1356320"/>
          </a:xfrm>
          <a:prstGeom prst="roundRect">
            <a:avLst>
              <a:gd name="adj" fmla="val 5618"/>
            </a:avLst>
          </a:prstGeom>
          <a:solidFill>
            <a:srgbClr val="16243D"/>
          </a:solidFill>
          <a:ln/>
        </p:spPr>
      </p:sp>
      <p:sp>
        <p:nvSpPr>
          <p:cNvPr id="14" name="Text 12"/>
          <p:cNvSpPr/>
          <p:nvPr/>
        </p:nvSpPr>
        <p:spPr>
          <a:xfrm>
            <a:off x="1066800" y="3756521"/>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WHAT WE BUILT</a:t>
            </a:r>
            <a:endParaRPr lang="en-US" sz="1200" dirty="0"/>
          </a:p>
        </p:txBody>
      </p:sp>
      <p:sp>
        <p:nvSpPr>
          <p:cNvPr id="15" name="Text 13"/>
          <p:cNvSpPr/>
          <p:nvPr/>
        </p:nvSpPr>
        <p:spPr>
          <a:xfrm>
            <a:off x="1066800" y="4046041"/>
            <a:ext cx="1036015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6F4EF"/>
                </a:solidFill>
                <a:latin typeface="IBM Plex Sans" pitchFamily="34" charset="0"/>
                <a:ea typeface="IBM Plex Sans" pitchFamily="34" charset="-122"/>
                <a:cs typeface="IBM Plex Sans" pitchFamily="34" charset="-120"/>
              </a:rPr>
              <a:t>Every morning, the 500 riskiest accounts with three reasons each. Any time, an API to score one account.</a:t>
            </a:r>
            <a:endParaRPr lang="en-US" sz="2000" dirty="0"/>
          </a:p>
        </p:txBody>
      </p:sp>
      <p:sp>
        <p:nvSpPr>
          <p:cNvPr id="16" name="Text 14"/>
          <p:cNvSpPr/>
          <p:nvPr/>
        </p:nvSpPr>
        <p:spPr>
          <a:xfrm>
            <a:off x="812800" y="50874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Used by AML investigators (alert list, API), compliance managers (precision and volume) and ML engineers (registry, drift).</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SINCE THE RFC</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What we changed after your feedback</a:t>
            </a:r>
            <a:endParaRPr lang="en-US" sz="3200" dirty="0"/>
          </a:p>
        </p:txBody>
      </p:sp>
      <p:sp>
        <p:nvSpPr>
          <p:cNvPr id="4" name="Shape 2"/>
          <p:cNvSpPr/>
          <p:nvPr/>
        </p:nvSpPr>
        <p:spPr>
          <a:xfrm>
            <a:off x="812800" y="1828750"/>
            <a:ext cx="10566400" cy="2714774"/>
          </a:xfrm>
          <a:prstGeom prst="rect">
            <a:avLst/>
          </a:prstGeom>
          <a:solidFill>
            <a:srgbClr val="FDFCFA"/>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2702074"/>
        </p:xfrm>
        <a:graphic>
          <a:graphicData uri="http://schemas.openxmlformats.org/drawingml/2006/table">
            <a:tbl>
              <a:tblPr/>
              <a:tblGrid>
                <a:gridCol w="4010406"/>
                <a:gridCol w="6543294"/>
              </a:tblGrid>
              <a:tr h="386011">
                <a:tc>
                  <a:txBody>
                    <a:bodyPr/>
                    <a:lstStyle/>
                    <a:p>
                      <a:pP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Feedback at the RFC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What we did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Did you compare other models?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LR baseline, LightGBM, LightGBM + graph on the same days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How do you handle the imbalance?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Class weights made ranking ~10× worse, so we rank and report 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Use the links between accounts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6 graph features: PageRank, payment loops, 2-hop fan-in / fan-out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How do batch and online connect?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Both read one feature store and one champion model alias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Why SHAP?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Per-account reasons that add up to the score, exact for trees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Out-of-time 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Train, valid and test are different days; test used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6" name="Text 3"/>
          <p:cNvSpPr/>
          <p:nvPr/>
        </p:nvSpPr>
        <p:spPr>
          <a:xfrm>
            <a:off x="812800" y="4721324"/>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Also changed: HI-Large to HI-Small, so the whole pipeline runs on one laptop · XGBoost to LightGBM (native SHAP values, faster early stopping).</a:t>
            </a:r>
            <a:endParaRPr lang="en-US" sz="14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Three DAGs, two ways to get a score</a:t>
            </a:r>
            <a:endParaRPr lang="en-US" sz="3200" dirty="0"/>
          </a:p>
        </p:txBody>
      </p:sp>
      <p:sp>
        <p:nvSpPr>
          <p:cNvPr id="4" name="Shape 2"/>
          <p:cNvSpPr/>
          <p:nvPr/>
        </p:nvSpPr>
        <p:spPr>
          <a:xfrm>
            <a:off x="812800" y="1828750"/>
            <a:ext cx="8191500" cy="3873500"/>
          </a:xfrm>
          <a:prstGeom prst="roundRect">
            <a:avLst>
              <a:gd name="adj" fmla="val 1967"/>
            </a:avLst>
          </a:prstGeom>
          <a:solidFill>
            <a:srgbClr val="FFFFFF"/>
          </a:solidFill>
          <a:ln/>
        </p:spPr>
      </p:sp>
      <p:pic>
        <p:nvPicPr>
          <p:cNvPr id="5" name="Image 0" descr="Architecture: three Airflow DAGs. The daily data DAG turns the transaction file into bronze and silver tables, then a feature store, graph features and a label store; the manual training DAG registers models in MLflow; the daily inference DAG writes the alert list and the scores, then the monitor checks quality and drift and raises alerts; a FastAPI service reads the same feature store and champion alias">    </p:cNvPr>
          <p:cNvPicPr>
            <a:picLocks noChangeAspect="1"/>
          </p:cNvPicPr>
          <p:nvPr/>
        </p:nvPicPr>
        <p:blipFill>
          <a:blip r:embed="rId1"/>
          <a:srcRect l="-113" r="-113" t="0" b="0"/>
          <a:stretch/>
        </p:blipFill>
        <p:spPr>
          <a:xfrm>
            <a:off x="819150" y="1835100"/>
            <a:ext cx="8178800" cy="3860800"/>
          </a:xfrm>
          <a:prstGeom prst="roundRect">
            <a:avLst>
              <a:gd name="adj" fmla="val 1809"/>
            </a:avLst>
          </a:prstGeom>
        </p:spPr>
      </p:pic>
      <p:sp>
        <p:nvSpPr>
          <p:cNvPr id="6" name="Shape 3"/>
          <p:cNvSpPr/>
          <p:nvPr/>
        </p:nvSpPr>
        <p:spPr>
          <a:xfrm>
            <a:off x="815975" y="1831925"/>
            <a:ext cx="8185150" cy="3867150"/>
          </a:xfrm>
          <a:prstGeom prst="roundRect">
            <a:avLst>
              <a:gd name="adj" fmla="val 1888"/>
            </a:avLst>
          </a:prstGeom>
          <a:noFill/>
          <a:ln w="6350">
            <a:solidFill>
              <a:srgbClr val="E3DFD4"/>
            </a:solidFill>
            <a:prstDash val="solid"/>
          </a:ln>
        </p:spPr>
      </p:sp>
      <p:sp>
        <p:nvSpPr>
          <p:cNvPr id="7" name="Text 4"/>
          <p:cNvSpPr/>
          <p:nvPr/>
        </p:nvSpPr>
        <p:spPr>
          <a:xfrm>
            <a:off x="9207500" y="1828750"/>
            <a:ext cx="223685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One command</a:t>
            </a:r>
            <a:endParaRPr lang="en-US" sz="1400" dirty="0"/>
          </a:p>
        </p:txBody>
      </p:sp>
      <p:sp>
        <p:nvSpPr>
          <p:cNvPr id="8" name="Text 5"/>
          <p:cNvSpPr/>
          <p:nvPr/>
        </p:nvSpPr>
        <p:spPr>
          <a:xfrm>
            <a:off x="9207500" y="2115741"/>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docker compose up starts Airflow, MLflow and the API</a:t>
            </a:r>
            <a:endParaRPr lang="en-US" sz="1200" dirty="0"/>
          </a:p>
        </p:txBody>
      </p:sp>
      <p:sp>
        <p:nvSpPr>
          <p:cNvPr id="9" name="Text 6"/>
          <p:cNvSpPr/>
          <p:nvPr/>
        </p:nvSpPr>
        <p:spPr>
          <a:xfrm>
            <a:off x="9207500" y="2720181"/>
            <a:ext cx="223685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Three DAGs</a:t>
            </a:r>
            <a:endParaRPr lang="en-US" sz="1400" dirty="0"/>
          </a:p>
        </p:txBody>
      </p:sp>
      <p:sp>
        <p:nvSpPr>
          <p:cNvPr id="10" name="Text 7"/>
          <p:cNvSpPr/>
          <p:nvPr/>
        </p:nvSpPr>
        <p:spPr>
          <a:xfrm>
            <a:off x="9207500" y="3007171"/>
            <a:ext cx="223685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Data daily, training by hand, inference daily; they share only the stores</a:t>
            </a:r>
            <a:endParaRPr lang="en-US" sz="1200" dirty="0"/>
          </a:p>
        </p:txBody>
      </p:sp>
      <p:sp>
        <p:nvSpPr>
          <p:cNvPr id="11" name="Text 8"/>
          <p:cNvSpPr/>
          <p:nvPr/>
        </p:nvSpPr>
        <p:spPr>
          <a:xfrm>
            <a:off x="9207500" y="3824932"/>
            <a:ext cx="223685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Same score</a:t>
            </a:r>
            <a:endParaRPr lang="en-US" sz="1400" dirty="0"/>
          </a:p>
        </p:txBody>
      </p:sp>
      <p:sp>
        <p:nvSpPr>
          <p:cNvPr id="12" name="Text 9"/>
          <p:cNvSpPr/>
          <p:nvPr/>
        </p:nvSpPr>
        <p:spPr>
          <a:xfrm>
            <a:off x="9207500" y="4111923"/>
            <a:ext cx="223685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Batch list and API share the features and the champion alias</a:t>
            </a:r>
            <a:endParaRPr lang="en-US" sz="12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DATA DESIGN</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Features look back, labels look forward</a:t>
            </a:r>
            <a:endParaRPr lang="en-US" sz="3200" dirty="0"/>
          </a:p>
        </p:txBody>
      </p:sp>
      <p:sp>
        <p:nvSpPr>
          <p:cNvPr id="4" name="Text 2"/>
          <p:cNvSpPr/>
          <p:nvPr/>
        </p:nvSpPr>
        <p:spPr>
          <a:xfrm>
            <a:off x="812800" y="182875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Sep</a:t>
            </a:r>
            <a:endParaRPr lang="en-US" sz="1200" dirty="0"/>
          </a:p>
        </p:txBody>
      </p:sp>
      <p:sp>
        <p:nvSpPr>
          <p:cNvPr id="5" name="Text 3"/>
          <p:cNvSpPr/>
          <p:nvPr/>
        </p:nvSpPr>
        <p:spPr>
          <a:xfrm>
            <a:off x="20955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25781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2</a:t>
            </a:r>
            <a:endParaRPr lang="en-US" sz="1200" dirty="0"/>
          </a:p>
        </p:txBody>
      </p:sp>
      <p:sp>
        <p:nvSpPr>
          <p:cNvPr id="7" name="Text 5"/>
          <p:cNvSpPr/>
          <p:nvPr/>
        </p:nvSpPr>
        <p:spPr>
          <a:xfrm>
            <a:off x="30607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3</a:t>
            </a:r>
            <a:endParaRPr lang="en-US" sz="1200" dirty="0"/>
          </a:p>
        </p:txBody>
      </p:sp>
      <p:sp>
        <p:nvSpPr>
          <p:cNvPr id="8" name="Text 6"/>
          <p:cNvSpPr/>
          <p:nvPr/>
        </p:nvSpPr>
        <p:spPr>
          <a:xfrm>
            <a:off x="35433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4</a:t>
            </a:r>
            <a:endParaRPr lang="en-US" sz="1200" dirty="0"/>
          </a:p>
        </p:txBody>
      </p:sp>
      <p:sp>
        <p:nvSpPr>
          <p:cNvPr id="9" name="Text 7"/>
          <p:cNvSpPr/>
          <p:nvPr/>
        </p:nvSpPr>
        <p:spPr>
          <a:xfrm>
            <a:off x="40259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5</a:t>
            </a:r>
            <a:endParaRPr lang="en-US" sz="1200" dirty="0"/>
          </a:p>
        </p:txBody>
      </p:sp>
      <p:sp>
        <p:nvSpPr>
          <p:cNvPr id="10" name="Text 8"/>
          <p:cNvSpPr/>
          <p:nvPr/>
        </p:nvSpPr>
        <p:spPr>
          <a:xfrm>
            <a:off x="45085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6</a:t>
            </a:r>
            <a:endParaRPr lang="en-US" sz="1200" dirty="0"/>
          </a:p>
        </p:txBody>
      </p:sp>
      <p:sp>
        <p:nvSpPr>
          <p:cNvPr id="11" name="Text 9"/>
          <p:cNvSpPr/>
          <p:nvPr/>
        </p:nvSpPr>
        <p:spPr>
          <a:xfrm>
            <a:off x="49911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7</a:t>
            </a:r>
            <a:endParaRPr lang="en-US" sz="1200" dirty="0"/>
          </a:p>
        </p:txBody>
      </p:sp>
      <p:sp>
        <p:nvSpPr>
          <p:cNvPr id="12" name="Text 10"/>
          <p:cNvSpPr/>
          <p:nvPr/>
        </p:nvSpPr>
        <p:spPr>
          <a:xfrm>
            <a:off x="54737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8</a:t>
            </a:r>
            <a:endParaRPr lang="en-US" sz="1200" dirty="0"/>
          </a:p>
        </p:txBody>
      </p:sp>
      <p:sp>
        <p:nvSpPr>
          <p:cNvPr id="13" name="Text 11"/>
          <p:cNvSpPr/>
          <p:nvPr/>
        </p:nvSpPr>
        <p:spPr>
          <a:xfrm>
            <a:off x="59563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9</a:t>
            </a:r>
            <a:endParaRPr lang="en-US" sz="1200" dirty="0"/>
          </a:p>
        </p:txBody>
      </p:sp>
      <p:sp>
        <p:nvSpPr>
          <p:cNvPr id="14" name="Text 12"/>
          <p:cNvSpPr/>
          <p:nvPr/>
        </p:nvSpPr>
        <p:spPr>
          <a:xfrm>
            <a:off x="6438900" y="1828750"/>
            <a:ext cx="495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10</a:t>
            </a:r>
            <a:endParaRPr lang="en-US" sz="1200" dirty="0"/>
          </a:p>
        </p:txBody>
      </p:sp>
      <p:sp>
        <p:nvSpPr>
          <p:cNvPr id="15" name="Text 13"/>
          <p:cNvSpPr/>
          <p:nvPr/>
        </p:nvSpPr>
        <p:spPr>
          <a:xfrm>
            <a:off x="812800" y="2133501"/>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Train</a:t>
            </a:r>
            <a:endParaRPr lang="en-US" sz="1400" dirty="0"/>
          </a:p>
        </p:txBody>
      </p:sp>
      <p:sp>
        <p:nvSpPr>
          <p:cNvPr id="16" name="Shape 14"/>
          <p:cNvSpPr/>
          <p:nvPr/>
        </p:nvSpPr>
        <p:spPr>
          <a:xfrm>
            <a:off x="2120900" y="2080171"/>
            <a:ext cx="444500" cy="355600"/>
          </a:xfrm>
          <a:prstGeom prst="roundRect">
            <a:avLst>
              <a:gd name="adj" fmla="val 10714"/>
            </a:avLst>
          </a:prstGeom>
          <a:solidFill>
            <a:srgbClr val="2A78D6"/>
          </a:solidFill>
          <a:ln/>
        </p:spPr>
      </p:sp>
      <p:sp>
        <p:nvSpPr>
          <p:cNvPr id="17" name="Shape 15"/>
          <p:cNvSpPr/>
          <p:nvPr/>
        </p:nvSpPr>
        <p:spPr>
          <a:xfrm>
            <a:off x="2603500" y="2080171"/>
            <a:ext cx="444500" cy="355600"/>
          </a:xfrm>
          <a:prstGeom prst="roundRect">
            <a:avLst>
              <a:gd name="adj" fmla="val 10714"/>
            </a:avLst>
          </a:prstGeom>
          <a:solidFill>
            <a:srgbClr val="2A78D6"/>
          </a:solidFill>
          <a:ln/>
        </p:spPr>
      </p:sp>
      <p:sp>
        <p:nvSpPr>
          <p:cNvPr id="18" name="Shape 16"/>
          <p:cNvSpPr/>
          <p:nvPr/>
        </p:nvSpPr>
        <p:spPr>
          <a:xfrm>
            <a:off x="3086100" y="2080171"/>
            <a:ext cx="444500" cy="355600"/>
          </a:xfrm>
          <a:prstGeom prst="roundRect">
            <a:avLst>
              <a:gd name="adj" fmla="val 10714"/>
            </a:avLst>
          </a:prstGeom>
          <a:solidFill>
            <a:srgbClr val="2A78D6"/>
          </a:solidFill>
          <a:ln/>
        </p:spPr>
      </p:sp>
      <p:sp>
        <p:nvSpPr>
          <p:cNvPr id="19" name="Shape 17"/>
          <p:cNvSpPr/>
          <p:nvPr/>
        </p:nvSpPr>
        <p:spPr>
          <a:xfrm>
            <a:off x="3568700" y="2080171"/>
            <a:ext cx="444500" cy="355600"/>
          </a:xfrm>
          <a:prstGeom prst="roundRect">
            <a:avLst>
              <a:gd name="adj" fmla="val 10714"/>
            </a:avLst>
          </a:prstGeom>
          <a:solidFill>
            <a:srgbClr val="2A78D6"/>
          </a:solidFill>
          <a:ln/>
        </p:spPr>
      </p:sp>
      <p:sp>
        <p:nvSpPr>
          <p:cNvPr id="20" name="Shape 18"/>
          <p:cNvSpPr/>
          <p:nvPr/>
        </p:nvSpPr>
        <p:spPr>
          <a:xfrm>
            <a:off x="4051300" y="2080171"/>
            <a:ext cx="444500" cy="355600"/>
          </a:xfrm>
          <a:prstGeom prst="roundRect">
            <a:avLst>
              <a:gd name="adj" fmla="val 10714"/>
            </a:avLst>
          </a:prstGeom>
          <a:solidFill>
            <a:srgbClr val="EB6834"/>
          </a:solidFill>
          <a:ln/>
        </p:spPr>
      </p:sp>
      <p:sp>
        <p:nvSpPr>
          <p:cNvPr id="21" name="Shape 19"/>
          <p:cNvSpPr/>
          <p:nvPr/>
        </p:nvSpPr>
        <p:spPr>
          <a:xfrm>
            <a:off x="4533900" y="2080171"/>
            <a:ext cx="444500" cy="355600"/>
          </a:xfrm>
          <a:prstGeom prst="roundRect">
            <a:avLst>
              <a:gd name="adj" fmla="val 10714"/>
            </a:avLst>
          </a:prstGeom>
          <a:solidFill>
            <a:srgbClr val="EB6834"/>
          </a:solidFill>
          <a:ln/>
        </p:spPr>
      </p:sp>
      <p:sp>
        <p:nvSpPr>
          <p:cNvPr id="22" name="Shape 20"/>
          <p:cNvSpPr/>
          <p:nvPr/>
        </p:nvSpPr>
        <p:spPr>
          <a:xfrm>
            <a:off x="5016500" y="2080171"/>
            <a:ext cx="444500" cy="355600"/>
          </a:xfrm>
          <a:prstGeom prst="roundRect">
            <a:avLst>
              <a:gd name="adj" fmla="val 10714"/>
            </a:avLst>
          </a:prstGeom>
          <a:solidFill>
            <a:srgbClr val="E6E2D8"/>
          </a:solidFill>
          <a:ln/>
        </p:spPr>
      </p:sp>
      <p:sp>
        <p:nvSpPr>
          <p:cNvPr id="23" name="Shape 21"/>
          <p:cNvSpPr/>
          <p:nvPr/>
        </p:nvSpPr>
        <p:spPr>
          <a:xfrm>
            <a:off x="5499100" y="2080171"/>
            <a:ext cx="444500" cy="355600"/>
          </a:xfrm>
          <a:prstGeom prst="roundRect">
            <a:avLst>
              <a:gd name="adj" fmla="val 10714"/>
            </a:avLst>
          </a:prstGeom>
          <a:solidFill>
            <a:srgbClr val="E6E2D8"/>
          </a:solidFill>
          <a:ln/>
        </p:spPr>
      </p:sp>
      <p:sp>
        <p:nvSpPr>
          <p:cNvPr id="24" name="Shape 22"/>
          <p:cNvSpPr/>
          <p:nvPr/>
        </p:nvSpPr>
        <p:spPr>
          <a:xfrm>
            <a:off x="5981700" y="2080171"/>
            <a:ext cx="444500" cy="355600"/>
          </a:xfrm>
          <a:prstGeom prst="roundRect">
            <a:avLst>
              <a:gd name="adj" fmla="val 10714"/>
            </a:avLst>
          </a:prstGeom>
          <a:solidFill>
            <a:srgbClr val="E6E2D8"/>
          </a:solidFill>
          <a:ln/>
        </p:spPr>
      </p:sp>
      <p:sp>
        <p:nvSpPr>
          <p:cNvPr id="25" name="Shape 23"/>
          <p:cNvSpPr/>
          <p:nvPr/>
        </p:nvSpPr>
        <p:spPr>
          <a:xfrm>
            <a:off x="6464300" y="2080171"/>
            <a:ext cx="444500" cy="355600"/>
          </a:xfrm>
          <a:prstGeom prst="roundRect">
            <a:avLst>
              <a:gd name="adj" fmla="val 10714"/>
            </a:avLst>
          </a:prstGeom>
          <a:solidFill>
            <a:srgbClr val="E6E2D8"/>
          </a:solidFill>
          <a:ln/>
        </p:spPr>
      </p:sp>
      <p:sp>
        <p:nvSpPr>
          <p:cNvPr id="26" name="Text 24"/>
          <p:cNvSpPr/>
          <p:nvPr/>
        </p:nvSpPr>
        <p:spPr>
          <a:xfrm>
            <a:off x="812800" y="2527201"/>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Valid</a:t>
            </a:r>
            <a:endParaRPr lang="en-US" sz="1400" dirty="0"/>
          </a:p>
        </p:txBody>
      </p:sp>
      <p:sp>
        <p:nvSpPr>
          <p:cNvPr id="27" name="Shape 25"/>
          <p:cNvSpPr/>
          <p:nvPr/>
        </p:nvSpPr>
        <p:spPr>
          <a:xfrm>
            <a:off x="2120900" y="2473871"/>
            <a:ext cx="444500" cy="355600"/>
          </a:xfrm>
          <a:prstGeom prst="roundRect">
            <a:avLst>
              <a:gd name="adj" fmla="val 10714"/>
            </a:avLst>
          </a:prstGeom>
          <a:solidFill>
            <a:srgbClr val="E6E2D8"/>
          </a:solidFill>
          <a:ln/>
        </p:spPr>
      </p:sp>
      <p:sp>
        <p:nvSpPr>
          <p:cNvPr id="28" name="Shape 26"/>
          <p:cNvSpPr/>
          <p:nvPr/>
        </p:nvSpPr>
        <p:spPr>
          <a:xfrm>
            <a:off x="2603500" y="2473871"/>
            <a:ext cx="444500" cy="355600"/>
          </a:xfrm>
          <a:prstGeom prst="roundRect">
            <a:avLst>
              <a:gd name="adj" fmla="val 10714"/>
            </a:avLst>
          </a:prstGeom>
          <a:solidFill>
            <a:srgbClr val="E6E2D8"/>
          </a:solidFill>
          <a:ln/>
        </p:spPr>
      </p:sp>
      <p:sp>
        <p:nvSpPr>
          <p:cNvPr id="29" name="Shape 27"/>
          <p:cNvSpPr/>
          <p:nvPr/>
        </p:nvSpPr>
        <p:spPr>
          <a:xfrm>
            <a:off x="3086100" y="2473871"/>
            <a:ext cx="444500" cy="355600"/>
          </a:xfrm>
          <a:prstGeom prst="roundRect">
            <a:avLst>
              <a:gd name="adj" fmla="val 10714"/>
            </a:avLst>
          </a:prstGeom>
          <a:solidFill>
            <a:srgbClr val="2A78D6"/>
          </a:solidFill>
          <a:ln/>
        </p:spPr>
      </p:sp>
      <p:sp>
        <p:nvSpPr>
          <p:cNvPr id="30" name="Shape 28"/>
          <p:cNvSpPr/>
          <p:nvPr/>
        </p:nvSpPr>
        <p:spPr>
          <a:xfrm>
            <a:off x="3568700" y="2473871"/>
            <a:ext cx="444500" cy="355600"/>
          </a:xfrm>
          <a:prstGeom prst="roundRect">
            <a:avLst>
              <a:gd name="adj" fmla="val 10714"/>
            </a:avLst>
          </a:prstGeom>
          <a:solidFill>
            <a:srgbClr val="2A78D6"/>
          </a:solidFill>
          <a:ln/>
        </p:spPr>
      </p:sp>
      <p:sp>
        <p:nvSpPr>
          <p:cNvPr id="31" name="Shape 29"/>
          <p:cNvSpPr/>
          <p:nvPr/>
        </p:nvSpPr>
        <p:spPr>
          <a:xfrm>
            <a:off x="4051300" y="2473871"/>
            <a:ext cx="444500" cy="355600"/>
          </a:xfrm>
          <a:prstGeom prst="roundRect">
            <a:avLst>
              <a:gd name="adj" fmla="val 10714"/>
            </a:avLst>
          </a:prstGeom>
          <a:solidFill>
            <a:srgbClr val="2A78D6"/>
          </a:solidFill>
          <a:ln/>
        </p:spPr>
      </p:sp>
      <p:sp>
        <p:nvSpPr>
          <p:cNvPr id="32" name="Shape 30"/>
          <p:cNvSpPr/>
          <p:nvPr/>
        </p:nvSpPr>
        <p:spPr>
          <a:xfrm>
            <a:off x="4533900" y="2473871"/>
            <a:ext cx="444500" cy="355600"/>
          </a:xfrm>
          <a:prstGeom prst="roundRect">
            <a:avLst>
              <a:gd name="adj" fmla="val 10714"/>
            </a:avLst>
          </a:prstGeom>
          <a:solidFill>
            <a:srgbClr val="2A78D6"/>
          </a:solidFill>
          <a:ln/>
        </p:spPr>
      </p:sp>
      <p:sp>
        <p:nvSpPr>
          <p:cNvPr id="33" name="Shape 31"/>
          <p:cNvSpPr/>
          <p:nvPr/>
        </p:nvSpPr>
        <p:spPr>
          <a:xfrm>
            <a:off x="5016500" y="2473871"/>
            <a:ext cx="444500" cy="355600"/>
          </a:xfrm>
          <a:prstGeom prst="roundRect">
            <a:avLst>
              <a:gd name="adj" fmla="val 10714"/>
            </a:avLst>
          </a:prstGeom>
          <a:solidFill>
            <a:srgbClr val="EB6834"/>
          </a:solidFill>
          <a:ln/>
        </p:spPr>
      </p:sp>
      <p:sp>
        <p:nvSpPr>
          <p:cNvPr id="34" name="Shape 32"/>
          <p:cNvSpPr/>
          <p:nvPr/>
        </p:nvSpPr>
        <p:spPr>
          <a:xfrm>
            <a:off x="5499100" y="2473871"/>
            <a:ext cx="444500" cy="355600"/>
          </a:xfrm>
          <a:prstGeom prst="roundRect">
            <a:avLst>
              <a:gd name="adj" fmla="val 10714"/>
            </a:avLst>
          </a:prstGeom>
          <a:solidFill>
            <a:srgbClr val="EB6834"/>
          </a:solidFill>
          <a:ln/>
        </p:spPr>
      </p:sp>
      <p:sp>
        <p:nvSpPr>
          <p:cNvPr id="35" name="Shape 33"/>
          <p:cNvSpPr/>
          <p:nvPr/>
        </p:nvSpPr>
        <p:spPr>
          <a:xfrm>
            <a:off x="5981700" y="2473871"/>
            <a:ext cx="444500" cy="355600"/>
          </a:xfrm>
          <a:prstGeom prst="roundRect">
            <a:avLst>
              <a:gd name="adj" fmla="val 10714"/>
            </a:avLst>
          </a:prstGeom>
          <a:solidFill>
            <a:srgbClr val="E6E2D8"/>
          </a:solidFill>
          <a:ln/>
        </p:spPr>
      </p:sp>
      <p:sp>
        <p:nvSpPr>
          <p:cNvPr id="36" name="Shape 34"/>
          <p:cNvSpPr/>
          <p:nvPr/>
        </p:nvSpPr>
        <p:spPr>
          <a:xfrm>
            <a:off x="6464300" y="2473871"/>
            <a:ext cx="444500" cy="355600"/>
          </a:xfrm>
          <a:prstGeom prst="roundRect">
            <a:avLst>
              <a:gd name="adj" fmla="val 10714"/>
            </a:avLst>
          </a:prstGeom>
          <a:solidFill>
            <a:srgbClr val="E6E2D8"/>
          </a:solidFill>
          <a:ln/>
        </p:spPr>
      </p:sp>
      <p:sp>
        <p:nvSpPr>
          <p:cNvPr id="37" name="Text 35"/>
          <p:cNvSpPr/>
          <p:nvPr/>
        </p:nvSpPr>
        <p:spPr>
          <a:xfrm>
            <a:off x="812800" y="2920901"/>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Test</a:t>
            </a:r>
            <a:endParaRPr lang="en-US" sz="1400" dirty="0"/>
          </a:p>
        </p:txBody>
      </p:sp>
      <p:sp>
        <p:nvSpPr>
          <p:cNvPr id="38" name="Shape 36"/>
          <p:cNvSpPr/>
          <p:nvPr/>
        </p:nvSpPr>
        <p:spPr>
          <a:xfrm>
            <a:off x="2120900" y="2867571"/>
            <a:ext cx="444500" cy="355600"/>
          </a:xfrm>
          <a:prstGeom prst="roundRect">
            <a:avLst>
              <a:gd name="adj" fmla="val 10714"/>
            </a:avLst>
          </a:prstGeom>
          <a:solidFill>
            <a:srgbClr val="E6E2D8"/>
          </a:solidFill>
          <a:ln/>
        </p:spPr>
      </p:sp>
      <p:sp>
        <p:nvSpPr>
          <p:cNvPr id="39" name="Shape 37"/>
          <p:cNvSpPr/>
          <p:nvPr/>
        </p:nvSpPr>
        <p:spPr>
          <a:xfrm>
            <a:off x="2603500" y="2867571"/>
            <a:ext cx="444500" cy="355600"/>
          </a:xfrm>
          <a:prstGeom prst="roundRect">
            <a:avLst>
              <a:gd name="adj" fmla="val 10714"/>
            </a:avLst>
          </a:prstGeom>
          <a:solidFill>
            <a:srgbClr val="E6E2D8"/>
          </a:solidFill>
          <a:ln/>
        </p:spPr>
      </p:sp>
      <p:sp>
        <p:nvSpPr>
          <p:cNvPr id="40" name="Shape 38"/>
          <p:cNvSpPr/>
          <p:nvPr/>
        </p:nvSpPr>
        <p:spPr>
          <a:xfrm>
            <a:off x="3086100" y="2867571"/>
            <a:ext cx="444500" cy="355600"/>
          </a:xfrm>
          <a:prstGeom prst="roundRect">
            <a:avLst>
              <a:gd name="adj" fmla="val 10714"/>
            </a:avLst>
          </a:prstGeom>
          <a:solidFill>
            <a:srgbClr val="E6E2D8"/>
          </a:solidFill>
          <a:ln/>
        </p:spPr>
      </p:sp>
      <p:sp>
        <p:nvSpPr>
          <p:cNvPr id="41" name="Shape 39"/>
          <p:cNvSpPr/>
          <p:nvPr/>
        </p:nvSpPr>
        <p:spPr>
          <a:xfrm>
            <a:off x="3568700" y="2867571"/>
            <a:ext cx="444500" cy="355600"/>
          </a:xfrm>
          <a:prstGeom prst="roundRect">
            <a:avLst>
              <a:gd name="adj" fmla="val 10714"/>
            </a:avLst>
          </a:prstGeom>
          <a:solidFill>
            <a:srgbClr val="E6E2D8"/>
          </a:solidFill>
          <a:ln/>
        </p:spPr>
      </p:sp>
      <p:sp>
        <p:nvSpPr>
          <p:cNvPr id="42" name="Shape 40"/>
          <p:cNvSpPr/>
          <p:nvPr/>
        </p:nvSpPr>
        <p:spPr>
          <a:xfrm>
            <a:off x="4051300" y="2867571"/>
            <a:ext cx="444500" cy="355600"/>
          </a:xfrm>
          <a:prstGeom prst="roundRect">
            <a:avLst>
              <a:gd name="adj" fmla="val 10714"/>
            </a:avLst>
          </a:prstGeom>
          <a:solidFill>
            <a:srgbClr val="2A78D6"/>
          </a:solidFill>
          <a:ln/>
        </p:spPr>
      </p:sp>
      <p:sp>
        <p:nvSpPr>
          <p:cNvPr id="43" name="Shape 41"/>
          <p:cNvSpPr/>
          <p:nvPr/>
        </p:nvSpPr>
        <p:spPr>
          <a:xfrm>
            <a:off x="4533900" y="2867571"/>
            <a:ext cx="444500" cy="355600"/>
          </a:xfrm>
          <a:prstGeom prst="roundRect">
            <a:avLst>
              <a:gd name="adj" fmla="val 10714"/>
            </a:avLst>
          </a:prstGeom>
          <a:solidFill>
            <a:srgbClr val="2A78D6"/>
          </a:solidFill>
          <a:ln/>
        </p:spPr>
      </p:sp>
      <p:sp>
        <p:nvSpPr>
          <p:cNvPr id="44" name="Shape 42"/>
          <p:cNvSpPr/>
          <p:nvPr/>
        </p:nvSpPr>
        <p:spPr>
          <a:xfrm>
            <a:off x="5016500" y="2867571"/>
            <a:ext cx="444500" cy="355600"/>
          </a:xfrm>
          <a:prstGeom prst="roundRect">
            <a:avLst>
              <a:gd name="adj" fmla="val 10714"/>
            </a:avLst>
          </a:prstGeom>
          <a:solidFill>
            <a:srgbClr val="2A78D6"/>
          </a:solidFill>
          <a:ln/>
        </p:spPr>
      </p:sp>
      <p:sp>
        <p:nvSpPr>
          <p:cNvPr id="45" name="Shape 43"/>
          <p:cNvSpPr/>
          <p:nvPr/>
        </p:nvSpPr>
        <p:spPr>
          <a:xfrm>
            <a:off x="5499100" y="2867571"/>
            <a:ext cx="444500" cy="355600"/>
          </a:xfrm>
          <a:prstGeom prst="roundRect">
            <a:avLst>
              <a:gd name="adj" fmla="val 10714"/>
            </a:avLst>
          </a:prstGeom>
          <a:solidFill>
            <a:srgbClr val="2A78D6"/>
          </a:solidFill>
          <a:ln/>
        </p:spPr>
      </p:sp>
      <p:sp>
        <p:nvSpPr>
          <p:cNvPr id="46" name="Shape 44"/>
          <p:cNvSpPr/>
          <p:nvPr/>
        </p:nvSpPr>
        <p:spPr>
          <a:xfrm>
            <a:off x="5981700" y="2867571"/>
            <a:ext cx="444500" cy="355600"/>
          </a:xfrm>
          <a:prstGeom prst="roundRect">
            <a:avLst>
              <a:gd name="adj" fmla="val 10714"/>
            </a:avLst>
          </a:prstGeom>
          <a:solidFill>
            <a:srgbClr val="EB6834"/>
          </a:solidFill>
          <a:ln/>
        </p:spPr>
      </p:sp>
      <p:sp>
        <p:nvSpPr>
          <p:cNvPr id="47" name="Shape 45"/>
          <p:cNvSpPr/>
          <p:nvPr/>
        </p:nvSpPr>
        <p:spPr>
          <a:xfrm>
            <a:off x="6464300" y="2867571"/>
            <a:ext cx="444500" cy="355600"/>
          </a:xfrm>
          <a:prstGeom prst="roundRect">
            <a:avLst>
              <a:gd name="adj" fmla="val 10714"/>
            </a:avLst>
          </a:prstGeom>
          <a:solidFill>
            <a:srgbClr val="EB6834"/>
          </a:solidFill>
          <a:ln/>
        </p:spPr>
      </p:sp>
      <p:sp>
        <p:nvSpPr>
          <p:cNvPr id="48" name="Shape 46"/>
          <p:cNvSpPr/>
          <p:nvPr/>
        </p:nvSpPr>
        <p:spPr>
          <a:xfrm>
            <a:off x="812800" y="3355231"/>
            <a:ext cx="203200" cy="203200"/>
          </a:xfrm>
          <a:prstGeom prst="roundRect">
            <a:avLst>
              <a:gd name="adj" fmla="val 18750"/>
            </a:avLst>
          </a:prstGeom>
          <a:solidFill>
            <a:srgbClr val="2A78D6"/>
          </a:solidFill>
          <a:ln/>
        </p:spPr>
      </p:sp>
      <p:sp>
        <p:nvSpPr>
          <p:cNvPr id="49" name="Text 47"/>
          <p:cNvSpPr/>
          <p:nvPr/>
        </p:nvSpPr>
        <p:spPr>
          <a:xfrm>
            <a:off x="1117600" y="3350171"/>
            <a:ext cx="2634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Features: 4 days before the snapshot</a:t>
            </a:r>
            <a:endParaRPr lang="en-US" sz="1200" dirty="0"/>
          </a:p>
        </p:txBody>
      </p:sp>
      <p:sp>
        <p:nvSpPr>
          <p:cNvPr id="50" name="Shape 48"/>
          <p:cNvSpPr/>
          <p:nvPr/>
        </p:nvSpPr>
        <p:spPr>
          <a:xfrm>
            <a:off x="3752106" y="3355231"/>
            <a:ext cx="203200" cy="203200"/>
          </a:xfrm>
          <a:prstGeom prst="roundRect">
            <a:avLst>
              <a:gd name="adj" fmla="val 18750"/>
            </a:avLst>
          </a:prstGeom>
          <a:solidFill>
            <a:srgbClr val="EB6834"/>
          </a:solidFill>
          <a:ln/>
        </p:spPr>
      </p:sp>
      <p:sp>
        <p:nvSpPr>
          <p:cNvPr id="51" name="Text 49"/>
          <p:cNvSpPr/>
          <p:nvPr/>
        </p:nvSpPr>
        <p:spPr>
          <a:xfrm>
            <a:off x="4056906" y="3350171"/>
            <a:ext cx="3121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Label: sends laundering in next 2 days</a:t>
            </a:r>
            <a:endParaRPr lang="en-US" sz="1200" dirty="0"/>
          </a:p>
        </p:txBody>
      </p:sp>
      <p:sp>
        <p:nvSpPr>
          <p:cNvPr id="52" name="Text 50"/>
          <p:cNvSpPr/>
          <p:nvPr/>
        </p:nvSpPr>
        <p:spPr>
          <a:xfrm>
            <a:off x="812800" y="3690491"/>
            <a:ext cx="640969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Labels arrive two days late, so each daily run builds tomorrow's features and closes the labels of yesterday's snapshot. Sep 11-18 is left out: legit volume collapses there.</a:t>
            </a:r>
            <a:endParaRPr lang="en-US" sz="1400" dirty="0"/>
          </a:p>
        </p:txBody>
      </p:sp>
      <p:sp>
        <p:nvSpPr>
          <p:cNvPr id="53" name="Shape 51"/>
          <p:cNvSpPr/>
          <p:nvPr/>
        </p:nvSpPr>
        <p:spPr>
          <a:xfrm>
            <a:off x="7343775" y="1831925"/>
            <a:ext cx="4032250" cy="3285083"/>
          </a:xfrm>
          <a:prstGeom prst="roundRect">
            <a:avLst>
              <a:gd name="adj" fmla="val 2223"/>
            </a:avLst>
          </a:prstGeom>
          <a:solidFill>
            <a:srgbClr val="FDFCFA"/>
          </a:solidFill>
          <a:ln w="6350">
            <a:solidFill>
              <a:srgbClr val="E3DFD4"/>
            </a:solidFill>
            <a:prstDash val="solid"/>
          </a:ln>
        </p:spPr>
      </p:sp>
      <p:sp>
        <p:nvSpPr>
          <p:cNvPr id="54" name="Text 52"/>
          <p:cNvSpPr/>
          <p:nvPr/>
        </p:nvSpPr>
        <p:spPr>
          <a:xfrm>
            <a:off x="7550150" y="2038300"/>
            <a:ext cx="37280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24 account features · PySpark</a:t>
            </a:r>
            <a:endParaRPr lang="en-US" sz="1400" dirty="0"/>
          </a:p>
        </p:txBody>
      </p:sp>
      <p:sp>
        <p:nvSpPr>
          <p:cNvPr id="55" name="Text 53"/>
          <p:cNvSpPr/>
          <p:nvPr/>
        </p:nvSpPr>
        <p:spPr>
          <a:xfrm>
            <a:off x="7550150" y="2325291"/>
            <a:ext cx="37280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Sent and received activity, amount percentiles per currency, ACH / cash / bitcoin shares, reciprocal pairs, recency</a:t>
            </a:r>
            <a:endParaRPr lang="en-US" sz="1200" dirty="0"/>
          </a:p>
        </p:txBody>
      </p:sp>
      <p:sp>
        <p:nvSpPr>
          <p:cNvPr id="56" name="Text 54"/>
          <p:cNvSpPr/>
          <p:nvPr/>
        </p:nvSpPr>
        <p:spPr>
          <a:xfrm>
            <a:off x="7550150" y="3117652"/>
            <a:ext cx="37280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6 graph features · networkx</a:t>
            </a:r>
            <a:endParaRPr lang="en-US" sz="1400" dirty="0"/>
          </a:p>
        </p:txBody>
      </p:sp>
      <p:sp>
        <p:nvSpPr>
          <p:cNvPr id="57" name="Text 55"/>
          <p:cNvSpPr/>
          <p:nvPr/>
        </p:nvSpPr>
        <p:spPr>
          <a:xfrm>
            <a:off x="7550150" y="3404642"/>
            <a:ext cx="37280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PageRank, payment-loop size, 2-hop fan-in and fan-out</a:t>
            </a:r>
            <a:endParaRPr lang="en-US" sz="1200" dirty="0"/>
          </a:p>
        </p:txBody>
      </p:sp>
      <p:sp>
        <p:nvSpPr>
          <p:cNvPr id="58" name="Text 56"/>
          <p:cNvSpPr/>
          <p:nvPr/>
        </p:nvSpPr>
        <p:spPr>
          <a:xfrm>
            <a:off x="7550150" y="3983682"/>
            <a:ext cx="37280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Leakage checks</a:t>
            </a:r>
            <a:endParaRPr lang="en-US" sz="1400" dirty="0"/>
          </a:p>
        </p:txBody>
      </p:sp>
      <p:sp>
        <p:nvSpPr>
          <p:cNvPr id="59" name="Text 57"/>
          <p:cNvSpPr/>
          <p:nvPr/>
        </p:nvSpPr>
        <p:spPr>
          <a:xfrm>
            <a:off x="7550150" y="4270673"/>
            <a:ext cx="37280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Percentiles only inside the window · label windows never overlap · Spark output equals the EDA prototype</a:t>
            </a:r>
            <a:endParaRPr lang="en-US" sz="1200" dirty="0"/>
          </a:p>
        </p:txBody>
      </p:sp>
      <p:sp>
        <p:nvSpPr>
          <p:cNvPr id="60" name="Text 5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61" name="Text 5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MODEL DEVELOPMENT</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Three models, tuned on the validation day</a:t>
            </a:r>
            <a:endParaRPr lang="en-US" sz="3200" dirty="0"/>
          </a:p>
        </p:txBody>
      </p:sp>
      <p:sp>
        <p:nvSpPr>
          <p:cNvPr id="4" name="Shape 2"/>
          <p:cNvSpPr/>
          <p:nvPr/>
        </p:nvSpPr>
        <p:spPr>
          <a:xfrm>
            <a:off x="812800" y="1828750"/>
            <a:ext cx="6451600" cy="1556742"/>
          </a:xfrm>
          <a:prstGeom prst="rect">
            <a:avLst/>
          </a:prstGeom>
          <a:solidFill>
            <a:srgbClr val="FDFCFA"/>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6438900" cy="1544042"/>
        </p:xfrm>
        <a:graphic>
          <a:graphicData uri="http://schemas.openxmlformats.org/drawingml/2006/table">
            <a:tbl>
              <a:tblPr/>
              <a:tblGrid>
                <a:gridCol w="2575560"/>
                <a:gridCol w="1287780"/>
                <a:gridCol w="1030224"/>
                <a:gridCol w="1545336"/>
              </a:tblGrid>
              <a:tr h="386011">
                <a:tc>
                  <a:txBody>
                    <a:bodyPr/>
                    <a:lstStyle/>
                    <a:p>
                      <a:pP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algn="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PR-AUC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algn="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P@500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Logistic regression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0.042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LightGBM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0.065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9.4%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champion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r>
              <a:tr h="386011">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LightGBM + graph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0.067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10.4%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960"/>
                        </a:lnSpc>
                        <a:buNone/>
                      </a:pPr>
                      <a:r>
                        <a:rPr lang="en-US" sz="1400" dirty="0">
                          <a:solidFill>
                            <a:srgbClr val="16243D"/>
                          </a:solidFill>
                          <a:latin typeface="IBM Plex Sans" pitchFamily="34" charset="0"/>
                          <a:ea typeface="IBM Plex Sans" pitchFamily="34" charset="-122"/>
                          <a:cs typeface="IBM Plex Sans" pitchFamily="34" charset="-120"/>
                        </a:rPr>
                        <a:t>challenger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6" name="Shape 3"/>
          <p:cNvSpPr/>
          <p:nvPr/>
        </p:nvSpPr>
        <p:spPr>
          <a:xfrm>
            <a:off x="815975" y="3566468"/>
            <a:ext cx="6445250" cy="1471811"/>
          </a:xfrm>
          <a:prstGeom prst="roundRect">
            <a:avLst>
              <a:gd name="adj" fmla="val 4962"/>
            </a:avLst>
          </a:prstGeom>
          <a:solidFill>
            <a:srgbClr val="FDFCFA"/>
          </a:solidFill>
          <a:ln w="6350">
            <a:solidFill>
              <a:srgbClr val="E3DFD4"/>
            </a:solidFill>
            <a:prstDash val="solid"/>
          </a:ln>
        </p:spPr>
      </p:sp>
      <p:sp>
        <p:nvSpPr>
          <p:cNvPr id="7" name="Text 4"/>
          <p:cNvSpPr/>
          <p:nvPr/>
        </p:nvSpPr>
        <p:spPr>
          <a:xfrm>
            <a:off x="1022350" y="3772843"/>
            <a:ext cx="62134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Selection rule</a:t>
            </a:r>
            <a:endParaRPr lang="en-US" sz="1400" dirty="0"/>
          </a:p>
        </p:txBody>
      </p:sp>
      <p:sp>
        <p:nvSpPr>
          <p:cNvPr id="8" name="Text 5"/>
          <p:cNvSpPr/>
          <p:nvPr/>
        </p:nvSpPr>
        <p:spPr>
          <a:xfrm>
            <a:off x="1022350" y="4085233"/>
            <a:ext cx="62134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The simplest model within 10% of the best PR-AUC goes live. Graph features gave +3%, which is noise with 565 positives, and cost an extra daily job.</a:t>
            </a:r>
            <a:endParaRPr lang="en-US" sz="1400" dirty="0"/>
          </a:p>
        </p:txBody>
      </p:sp>
      <p:sp>
        <p:nvSpPr>
          <p:cNvPr id="9" name="Text 6"/>
          <p:cNvSpPr/>
          <p:nvPr/>
        </p:nvSpPr>
        <p:spPr>
          <a:xfrm>
            <a:off x="812800" y="5219254"/>
            <a:ext cx="66451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20-try random search with early stopping per LightGBM · every try logged in MLflow · 2 minutes on a laptop CPU</a:t>
            </a:r>
            <a:endParaRPr lang="en-US" sz="1200" dirty="0"/>
          </a:p>
        </p:txBody>
      </p:sp>
      <p:sp>
        <p:nvSpPr>
          <p:cNvPr id="10" name="Shape 7"/>
          <p:cNvSpPr/>
          <p:nvPr/>
        </p:nvSpPr>
        <p:spPr>
          <a:xfrm>
            <a:off x="7569200" y="1828750"/>
            <a:ext cx="3810000" cy="2870200"/>
          </a:xfrm>
          <a:prstGeom prst="roundRect">
            <a:avLst>
              <a:gd name="adj" fmla="val 2655"/>
            </a:avLst>
          </a:prstGeom>
          <a:solidFill>
            <a:srgbClr val="FFFFFF"/>
          </a:solidFill>
          <a:ln/>
        </p:spPr>
      </p:sp>
      <p:pic>
        <p:nvPicPr>
          <p:cNvPr id="11" name="Image 0" descr="Validation PR-AUC of the LightGBM tuning tries by scale_pos_weight: without class weights about 0.05 to 0.07, with weight 10 or 100 mostly below 0.01">    </p:cNvPr>
          <p:cNvPicPr>
            <a:picLocks noChangeAspect="1"/>
          </p:cNvPicPr>
          <p:nvPr/>
        </p:nvPicPr>
        <p:blipFill>
          <a:blip r:embed="rId1"/>
          <a:srcRect l="0" r="0" t="-15" b="-15"/>
          <a:stretch/>
        </p:blipFill>
        <p:spPr>
          <a:xfrm>
            <a:off x="7575550" y="1835100"/>
            <a:ext cx="3797300" cy="2857500"/>
          </a:xfrm>
          <a:prstGeom prst="roundRect">
            <a:avLst>
              <a:gd name="adj" fmla="val 2444"/>
            </a:avLst>
          </a:prstGeom>
        </p:spPr>
      </p:pic>
      <p:sp>
        <p:nvSpPr>
          <p:cNvPr id="12" name="Shape 8"/>
          <p:cNvSpPr/>
          <p:nvPr/>
        </p:nvSpPr>
        <p:spPr>
          <a:xfrm>
            <a:off x="7572375" y="1831925"/>
            <a:ext cx="3803650" cy="2863850"/>
          </a:xfrm>
          <a:prstGeom prst="roundRect">
            <a:avLst>
              <a:gd name="adj" fmla="val 2550"/>
            </a:avLst>
          </a:prstGeom>
          <a:noFill/>
          <a:ln w="6350">
            <a:solidFill>
              <a:srgbClr val="E3DFD4"/>
            </a:solidFill>
            <a:prstDash val="solid"/>
          </a:ln>
        </p:spPr>
      </p:sp>
      <p:sp>
        <p:nvSpPr>
          <p:cNvPr id="13" name="Text 9"/>
          <p:cNvSpPr/>
          <p:nvPr/>
        </p:nvSpPr>
        <p:spPr>
          <a:xfrm>
            <a:off x="7569200" y="4800550"/>
            <a:ext cx="3924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36A"/>
                </a:solidFill>
                <a:latin typeface="IBM Plex Sans" pitchFamily="34" charset="0"/>
                <a:ea typeface="IBM Plex Sans" pitchFamily="34" charset="-122"/>
                <a:cs typeface="IBM Plex Sans" pitchFamily="34" charset="-120"/>
              </a:rPr>
              <a:t>No class weights:</a:t>
            </a:r>
            <a:r>
              <a:rPr lang="en-US" sz="1200" dirty="0">
                <a:solidFill>
                  <a:srgbClr val="46536A"/>
                </a:solidFill>
                <a:latin typeface="IBM Plex Sans" pitchFamily="34" charset="0"/>
                <a:ea typeface="IBM Plex Sans" pitchFamily="34" charset="-122"/>
                <a:cs typeface="IBM Plex Sans" pitchFamily="34" charset="-120"/>
              </a:rPr>
              <a:t> weighting the positives cut validation PR-AUC about 10 times (median 0.054 to 0.005).</a:t>
            </a:r>
            <a:endParaRPr lang="en-US" sz="1200" dirty="0"/>
          </a:p>
        </p:txBody>
      </p:sp>
      <p:sp>
        <p:nvSpPr>
          <p:cNvPr id="14"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MODEL REGISTRY · SHADOW DEPLOYMENT</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Releasing a model means moving an alias</a:t>
            </a:r>
            <a:endParaRPr lang="en-US" sz="3200" dirty="0"/>
          </a:p>
        </p:txBody>
      </p:sp>
      <p:sp>
        <p:nvSpPr>
          <p:cNvPr id="4" name="Shape 2"/>
          <p:cNvSpPr/>
          <p:nvPr/>
        </p:nvSpPr>
        <p:spPr>
          <a:xfrm>
            <a:off x="819150" y="1835100"/>
            <a:ext cx="3382417" cy="1663601"/>
          </a:xfrm>
          <a:prstGeom prst="roundRect">
            <a:avLst>
              <a:gd name="adj" fmla="val 4199"/>
            </a:avLst>
          </a:prstGeom>
          <a:solidFill>
            <a:srgbClr val="FDFCFA"/>
          </a:solidFill>
          <a:ln w="12700">
            <a:solidFill>
              <a:srgbClr val="16243D"/>
            </a:solidFill>
            <a:prstDash val="solid"/>
          </a:ln>
        </p:spPr>
      </p:sp>
      <p:sp>
        <p:nvSpPr>
          <p:cNvPr id="5" name="Text 3"/>
          <p:cNvSpPr/>
          <p:nvPr/>
        </p:nvSpPr>
        <p:spPr>
          <a:xfrm>
            <a:off x="1028700" y="2044650"/>
            <a:ext cx="909340" cy="264120"/>
          </a:xfrm>
          <a:prstGeom prst="roundRect">
            <a:avLst>
              <a:gd name="adj" fmla="val 19234"/>
            </a:avLst>
          </a:prstGeom>
          <a:solidFill>
            <a:srgbClr val="16243D"/>
          </a:solidFill>
          <a:ln/>
        </p:spPr>
        <p:txBody>
          <a:bodyPr wrap="none" lIns="0" tIns="0" rIns="0" bIns="0" rtlCol="0" anchor="ctr">
            <a:normAutofit/>
          </a:bodyPr>
          <a:lstStyle/>
          <a:p>
            <a:pPr algn="ctr" indent="0" marL="0">
              <a:lnSpc>
                <a:spcPts val="1680"/>
              </a:lnSpc>
              <a:buNone/>
            </a:pPr>
            <a:r>
              <a:rPr lang="en-US" sz="1200" b="1" dirty="0">
                <a:solidFill>
                  <a:srgbClr val="F6F4EF"/>
                </a:solidFill>
                <a:latin typeface="IBM Plex Mono" pitchFamily="49" charset="0"/>
                <a:ea typeface="IBM Plex Mono" pitchFamily="49" charset="-122"/>
                <a:cs typeface="IBM Plex Mono" pitchFamily="49" charset="-120"/>
              </a:rPr>
              <a:t>champion</a:t>
            </a:r>
            <a:endParaRPr lang="en-US" sz="1200" dirty="0"/>
          </a:p>
        </p:txBody>
      </p:sp>
      <p:sp>
        <p:nvSpPr>
          <p:cNvPr id="6" name="Text 4"/>
          <p:cNvSpPr/>
          <p:nvPr/>
        </p:nvSpPr>
        <p:spPr>
          <a:xfrm>
            <a:off x="1028700" y="2397671"/>
            <a:ext cx="30522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v2 · LightGBM</a:t>
            </a:r>
            <a:endParaRPr lang="en-US" sz="2000" dirty="0"/>
          </a:p>
        </p:txBody>
      </p:sp>
      <p:sp>
        <p:nvSpPr>
          <p:cNvPr id="7" name="Text 5"/>
          <p:cNvSpPr/>
          <p:nvPr/>
        </p:nvSpPr>
        <p:spPr>
          <a:xfrm>
            <a:off x="1028700" y="2791371"/>
            <a:ext cx="30522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Production: morning alert list and the API</a:t>
            </a:r>
            <a:endParaRPr lang="en-US" sz="1400" dirty="0"/>
          </a:p>
        </p:txBody>
      </p:sp>
      <p:sp>
        <p:nvSpPr>
          <p:cNvPr id="8" name="Shape 6"/>
          <p:cNvSpPr/>
          <p:nvPr/>
        </p:nvSpPr>
        <p:spPr>
          <a:xfrm>
            <a:off x="4414292" y="1831925"/>
            <a:ext cx="3376116" cy="1669951"/>
          </a:xfrm>
          <a:prstGeom prst="roundRect">
            <a:avLst>
              <a:gd name="adj" fmla="val 4373"/>
            </a:avLst>
          </a:prstGeom>
          <a:solidFill>
            <a:srgbClr val="FDFCFA"/>
          </a:solidFill>
          <a:ln w="6350">
            <a:solidFill>
              <a:srgbClr val="E3DFD4"/>
            </a:solidFill>
            <a:prstDash val="solid"/>
          </a:ln>
        </p:spPr>
      </p:sp>
      <p:sp>
        <p:nvSpPr>
          <p:cNvPr id="9" name="Text 7"/>
          <p:cNvSpPr/>
          <p:nvPr/>
        </p:nvSpPr>
        <p:spPr>
          <a:xfrm>
            <a:off x="4620667" y="2038300"/>
            <a:ext cx="1092200" cy="264120"/>
          </a:xfrm>
          <a:prstGeom prst="roundRect">
            <a:avLst>
              <a:gd name="adj" fmla="val 19234"/>
            </a:avLst>
          </a:prstGeom>
          <a:solidFill>
            <a:srgbClr val="FBE9D7"/>
          </a:solidFill>
          <a:ln/>
        </p:spPr>
        <p:txBody>
          <a:bodyPr wrap="none" lIns="0" tIns="0" rIns="0" bIns="0" rtlCol="0" anchor="ctr">
            <a:normAutofit/>
          </a:bodyPr>
          <a:lstStyle/>
          <a:p>
            <a:pPr algn="ctr" indent="0" marL="0">
              <a:lnSpc>
                <a:spcPts val="1680"/>
              </a:lnSpc>
              <a:buNone/>
            </a:pPr>
            <a:r>
              <a:rPr lang="en-US" sz="1200" b="1" dirty="0">
                <a:solidFill>
                  <a:srgbClr val="16243D"/>
                </a:solidFill>
                <a:latin typeface="IBM Plex Mono" pitchFamily="49" charset="0"/>
                <a:ea typeface="IBM Plex Mono" pitchFamily="49" charset="-122"/>
                <a:cs typeface="IBM Plex Mono" pitchFamily="49" charset="-120"/>
              </a:rPr>
              <a:t>challenger</a:t>
            </a:r>
            <a:endParaRPr lang="en-US" sz="1200" dirty="0"/>
          </a:p>
        </p:txBody>
      </p:sp>
      <p:sp>
        <p:nvSpPr>
          <p:cNvPr id="10" name="Text 8"/>
          <p:cNvSpPr/>
          <p:nvPr/>
        </p:nvSpPr>
        <p:spPr>
          <a:xfrm>
            <a:off x="4620667" y="2391321"/>
            <a:ext cx="3052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v3 · LightGBM + graph</a:t>
            </a:r>
            <a:endParaRPr lang="en-US" sz="2000" dirty="0"/>
          </a:p>
        </p:txBody>
      </p:sp>
      <p:sp>
        <p:nvSpPr>
          <p:cNvPr id="11" name="Text 9"/>
          <p:cNvSpPr/>
          <p:nvPr/>
        </p:nvSpPr>
        <p:spPr>
          <a:xfrm>
            <a:off x="4620667" y="2785021"/>
            <a:ext cx="305226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Shadow: scored every day, never shown</a:t>
            </a:r>
            <a:endParaRPr lang="en-US" sz="1400" dirty="0"/>
          </a:p>
        </p:txBody>
      </p:sp>
      <p:sp>
        <p:nvSpPr>
          <p:cNvPr id="12" name="Shape 10"/>
          <p:cNvSpPr/>
          <p:nvPr/>
        </p:nvSpPr>
        <p:spPr>
          <a:xfrm>
            <a:off x="7999958" y="1831925"/>
            <a:ext cx="3376067" cy="1669951"/>
          </a:xfrm>
          <a:prstGeom prst="roundRect">
            <a:avLst>
              <a:gd name="adj" fmla="val 4373"/>
            </a:avLst>
          </a:prstGeom>
          <a:solidFill>
            <a:srgbClr val="FDFCFA"/>
          </a:solidFill>
          <a:ln w="6350">
            <a:solidFill>
              <a:srgbClr val="E3DFD4"/>
            </a:solidFill>
            <a:prstDash val="solid"/>
          </a:ln>
        </p:spPr>
      </p:sp>
      <p:sp>
        <p:nvSpPr>
          <p:cNvPr id="13" name="Text 11"/>
          <p:cNvSpPr/>
          <p:nvPr/>
        </p:nvSpPr>
        <p:spPr>
          <a:xfrm>
            <a:off x="8206333" y="2038300"/>
            <a:ext cx="909340" cy="264120"/>
          </a:xfrm>
          <a:prstGeom prst="roundRect">
            <a:avLst>
              <a:gd name="adj" fmla="val 19234"/>
            </a:avLst>
          </a:prstGeom>
          <a:solidFill>
            <a:srgbClr val="E9EDF3"/>
          </a:solidFill>
          <a:ln/>
        </p:spPr>
        <p:txBody>
          <a:bodyPr wrap="none" lIns="0" tIns="0" rIns="0" bIns="0" rtlCol="0" anchor="ctr">
            <a:normAutofit/>
          </a:bodyPr>
          <a:lstStyle/>
          <a:p>
            <a:pPr algn="ctr" indent="0" marL="0">
              <a:lnSpc>
                <a:spcPts val="1680"/>
              </a:lnSpc>
              <a:buNone/>
            </a:pPr>
            <a:r>
              <a:rPr lang="en-US" sz="1200" b="1" dirty="0">
                <a:solidFill>
                  <a:srgbClr val="16243D"/>
                </a:solidFill>
                <a:latin typeface="IBM Plex Mono" pitchFamily="49" charset="0"/>
                <a:ea typeface="IBM Plex Mono" pitchFamily="49" charset="-122"/>
                <a:cs typeface="IBM Plex Mono" pitchFamily="49" charset="-120"/>
              </a:rPr>
              <a:t>baseline</a:t>
            </a:r>
            <a:endParaRPr lang="en-US" sz="1200" dirty="0"/>
          </a:p>
        </p:txBody>
      </p:sp>
      <p:sp>
        <p:nvSpPr>
          <p:cNvPr id="14" name="Text 12"/>
          <p:cNvSpPr/>
          <p:nvPr/>
        </p:nvSpPr>
        <p:spPr>
          <a:xfrm>
            <a:off x="8206333" y="2391321"/>
            <a:ext cx="30522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v1 · Logistic regression</a:t>
            </a:r>
            <a:endParaRPr lang="en-US" sz="2000" dirty="0"/>
          </a:p>
        </p:txBody>
      </p:sp>
      <p:sp>
        <p:nvSpPr>
          <p:cNvPr id="15" name="Text 13"/>
          <p:cNvSpPr/>
          <p:nvPr/>
        </p:nvSpPr>
        <p:spPr>
          <a:xfrm>
            <a:off x="8206333" y="2785021"/>
            <a:ext cx="30522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Benchmark: drawn against both at every training</a:t>
            </a:r>
            <a:endParaRPr lang="en-US" sz="1400" dirty="0"/>
          </a:p>
        </p:txBody>
      </p:sp>
      <p:sp>
        <p:nvSpPr>
          <p:cNvPr id="16" name="Text 14"/>
          <p:cNvSpPr/>
          <p:nvPr/>
        </p:nvSpPr>
        <p:spPr>
          <a:xfrm>
            <a:off x="815975" y="3788866"/>
            <a:ext cx="1781770" cy="671810"/>
          </a:xfrm>
          <a:prstGeom prst="roundRect">
            <a:avLst>
              <a:gd name="adj" fmla="val 10870"/>
            </a:avLst>
          </a:prstGeom>
          <a:solidFill>
            <a:srgbClr val="FDFCFA"/>
          </a:solidFill>
          <a:ln w="6350">
            <a:solidFill>
              <a:srgbClr val="E3DFD4"/>
            </a:solidFill>
            <a:prstDash val="solid"/>
          </a:ln>
        </p:spPr>
        <p:txBody>
          <a:bodyPr wrap="square" lIns="134187" tIns="108787" rIns="83387" bIns="83387" rtlCol="0" anchor="t">
            <a:normAutofit/>
          </a:bodyPr>
          <a:lstStyle/>
          <a:p>
            <a:pPr algn="l" indent="0" marL="0">
              <a:lnSpc>
                <a:spcPts val="1620"/>
              </a:lnSpc>
              <a:buNone/>
            </a:pPr>
            <a:r>
              <a:rPr lang="en-US" sz="1200" dirty="0">
                <a:solidFill>
                  <a:srgbClr val="16243D"/>
                </a:solidFill>
                <a:latin typeface="IBM Plex Sans" pitchFamily="34" charset="0"/>
                <a:ea typeface="IBM Plex Sans" pitchFamily="34" charset="-122"/>
                <a:cs typeface="IBM Plex Sans" pitchFamily="34" charset="-120"/>
              </a:rPr>
              <a:t>Drift alert: a person runs the training DAG</a:t>
            </a:r>
            <a:endParaRPr lang="en-US" sz="1200" dirty="0"/>
          </a:p>
        </p:txBody>
      </p:sp>
      <p:pic>
        <p:nvPicPr>
          <p:cNvPr id="17" name="Image 0" descr="arrow-right">    </p:cNvPr>
          <p:cNvPicPr>
            <a:picLocks noChangeAspect="1"/>
          </p:cNvPicPr>
          <p:nvPr/>
        </p:nvPicPr>
        <p:blipFill>
          <a:blip r:embed="rId1"/>
          <a:srcRect l="0" r="0" t="0" b="0"/>
          <a:stretch/>
        </p:blipFill>
        <p:spPr>
          <a:xfrm>
            <a:off x="2677120" y="4061271"/>
            <a:ext cx="254000" cy="127000"/>
          </a:xfrm>
          <a:prstGeom prst="rect">
            <a:avLst/>
          </a:prstGeom>
        </p:spPr>
      </p:pic>
      <p:sp>
        <p:nvSpPr>
          <p:cNvPr id="18" name="Text 15"/>
          <p:cNvSpPr/>
          <p:nvPr/>
        </p:nvSpPr>
        <p:spPr>
          <a:xfrm>
            <a:off x="3010495" y="3788866"/>
            <a:ext cx="1781820" cy="671810"/>
          </a:xfrm>
          <a:prstGeom prst="roundRect">
            <a:avLst>
              <a:gd name="adj" fmla="val 10870"/>
            </a:avLst>
          </a:prstGeom>
          <a:solidFill>
            <a:srgbClr val="FDFCFA"/>
          </a:solidFill>
          <a:ln w="6350">
            <a:solidFill>
              <a:srgbClr val="E3DFD4"/>
            </a:solidFill>
            <a:prstDash val="solid"/>
          </a:ln>
        </p:spPr>
        <p:txBody>
          <a:bodyPr wrap="square" lIns="134187" tIns="108787" rIns="83387" bIns="83387" rtlCol="0" anchor="t">
            <a:normAutofit/>
          </a:bodyPr>
          <a:lstStyle/>
          <a:p>
            <a:pPr algn="l" indent="0" marL="0">
              <a:lnSpc>
                <a:spcPts val="1620"/>
              </a:lnSpc>
              <a:buNone/>
            </a:pPr>
            <a:r>
              <a:rPr lang="en-US" sz="1200" dirty="0">
                <a:solidFill>
                  <a:srgbClr val="16243D"/>
                </a:solidFill>
                <a:latin typeface="IBM Plex Sans" pitchFamily="34" charset="0"/>
                <a:ea typeface="IBM Plex Sans" pitchFamily="34" charset="-122"/>
                <a:cs typeface="IBM Plex Sans" pitchFamily="34" charset="-120"/>
              </a:rPr>
              <a:t>Two new versions run in shadow</a:t>
            </a:r>
            <a:endParaRPr lang="en-US" sz="1200" dirty="0"/>
          </a:p>
        </p:txBody>
      </p:sp>
      <p:pic>
        <p:nvPicPr>
          <p:cNvPr id="19" name="Image 1" descr="arrow-right">    </p:cNvPr>
          <p:cNvPicPr>
            <a:picLocks noChangeAspect="1"/>
          </p:cNvPicPr>
          <p:nvPr/>
        </p:nvPicPr>
        <p:blipFill>
          <a:blip r:embed="rId2"/>
          <a:srcRect l="0" r="0" t="0" b="0"/>
          <a:stretch/>
        </p:blipFill>
        <p:spPr>
          <a:xfrm>
            <a:off x="4871690" y="4061271"/>
            <a:ext cx="254000" cy="127000"/>
          </a:xfrm>
          <a:prstGeom prst="rect">
            <a:avLst/>
          </a:prstGeom>
        </p:spPr>
      </p:pic>
      <p:sp>
        <p:nvSpPr>
          <p:cNvPr id="20" name="Text 16"/>
          <p:cNvSpPr/>
          <p:nvPr/>
        </p:nvSpPr>
        <p:spPr>
          <a:xfrm>
            <a:off x="5205065" y="3686026"/>
            <a:ext cx="1781820" cy="877540"/>
          </a:xfrm>
          <a:prstGeom prst="roundRect">
            <a:avLst>
              <a:gd name="adj" fmla="val 8322"/>
            </a:avLst>
          </a:prstGeom>
          <a:solidFill>
            <a:srgbClr val="FDFCFA"/>
          </a:solidFill>
          <a:ln w="6350">
            <a:solidFill>
              <a:srgbClr val="E3DFD4"/>
            </a:solidFill>
            <a:prstDash val="solid"/>
          </a:ln>
        </p:spPr>
        <p:txBody>
          <a:bodyPr wrap="square" lIns="134187" tIns="108787" rIns="83387" bIns="83387" rtlCol="0" anchor="t">
            <a:normAutofit/>
          </a:bodyPr>
          <a:lstStyle/>
          <a:p>
            <a:pPr algn="l" indent="0" marL="0">
              <a:lnSpc>
                <a:spcPts val="1620"/>
              </a:lnSpc>
              <a:buNone/>
            </a:pPr>
            <a:r>
              <a:rPr lang="en-US" sz="1200" dirty="0">
                <a:solidFill>
                  <a:srgbClr val="16243D"/>
                </a:solidFill>
                <a:latin typeface="IBM Plex Sans" pitchFamily="34" charset="0"/>
                <a:ea typeface="IBM Plex Sans" pitchFamily="34" charset="-122"/>
                <a:cs typeface="IBM Plex Sans" pitchFamily="34" charset="-120"/>
              </a:rPr>
              <a:t>Shadow results checked when labels arrive</a:t>
            </a:r>
            <a:endParaRPr lang="en-US" sz="1200" dirty="0"/>
          </a:p>
        </p:txBody>
      </p:sp>
      <p:pic>
        <p:nvPicPr>
          <p:cNvPr id="21" name="Image 2" descr="arrow-right">    </p:cNvPr>
          <p:cNvPicPr>
            <a:picLocks noChangeAspect="1"/>
          </p:cNvPicPr>
          <p:nvPr/>
        </p:nvPicPr>
        <p:blipFill>
          <a:blip r:embed="rId3"/>
          <a:srcRect l="0" r="0" t="0" b="0"/>
          <a:stretch/>
        </p:blipFill>
        <p:spPr>
          <a:xfrm>
            <a:off x="7066260" y="4061271"/>
            <a:ext cx="254000" cy="127000"/>
          </a:xfrm>
          <a:prstGeom prst="rect">
            <a:avLst/>
          </a:prstGeom>
        </p:spPr>
      </p:pic>
      <p:sp>
        <p:nvSpPr>
          <p:cNvPr id="22" name="Text 17"/>
          <p:cNvSpPr/>
          <p:nvPr/>
        </p:nvSpPr>
        <p:spPr>
          <a:xfrm>
            <a:off x="7399635" y="3686026"/>
            <a:ext cx="1781820" cy="877540"/>
          </a:xfrm>
          <a:prstGeom prst="roundRect">
            <a:avLst>
              <a:gd name="adj" fmla="val 8322"/>
            </a:avLst>
          </a:prstGeom>
          <a:solidFill>
            <a:srgbClr val="FDFCFA"/>
          </a:solidFill>
          <a:ln w="6350">
            <a:solidFill>
              <a:srgbClr val="E3DFD4"/>
            </a:solidFill>
            <a:prstDash val="solid"/>
          </a:ln>
        </p:spPr>
        <p:txBody>
          <a:bodyPr wrap="square" lIns="134187" tIns="108787" rIns="83387" bIns="83387" rtlCol="0" anchor="t">
            <a:normAutofit/>
          </a:bodyPr>
          <a:lstStyle/>
          <a:p>
            <a:pPr algn="l" indent="0" marL="0">
              <a:lnSpc>
                <a:spcPts val="1620"/>
              </a:lnSpc>
              <a:buNone/>
            </a:pPr>
            <a:r>
              <a:rPr lang="en-US" sz="1200" dirty="0">
                <a:solidFill>
                  <a:srgbClr val="16243D"/>
                </a:solidFill>
                <a:latin typeface="IBM Plex Sans" pitchFamily="34" charset="0"/>
                <a:ea typeface="IBM Plex Sans" pitchFamily="34" charset="-122"/>
                <a:cs typeface="IBM Plex Sans" pitchFamily="34" charset="-120"/>
              </a:rPr>
              <a:t>One command promotes, logs who and why</a:t>
            </a:r>
            <a:endParaRPr lang="en-US" sz="1200" dirty="0"/>
          </a:p>
        </p:txBody>
      </p:sp>
      <p:pic>
        <p:nvPicPr>
          <p:cNvPr id="23" name="Image 3" descr="arrow-right">    </p:cNvPr>
          <p:cNvPicPr>
            <a:picLocks noChangeAspect="1"/>
          </p:cNvPicPr>
          <p:nvPr/>
        </p:nvPicPr>
        <p:blipFill>
          <a:blip r:embed="rId4"/>
          <a:srcRect l="0" r="0" t="0" b="0"/>
          <a:stretch/>
        </p:blipFill>
        <p:spPr>
          <a:xfrm>
            <a:off x="9260830" y="4061271"/>
            <a:ext cx="254000" cy="127000"/>
          </a:xfrm>
          <a:prstGeom prst="rect">
            <a:avLst/>
          </a:prstGeom>
        </p:spPr>
      </p:pic>
      <p:sp>
        <p:nvSpPr>
          <p:cNvPr id="24" name="Text 18"/>
          <p:cNvSpPr/>
          <p:nvPr/>
        </p:nvSpPr>
        <p:spPr>
          <a:xfrm>
            <a:off x="9594205" y="3788866"/>
            <a:ext cx="1781820" cy="671810"/>
          </a:xfrm>
          <a:prstGeom prst="roundRect">
            <a:avLst>
              <a:gd name="adj" fmla="val 10870"/>
            </a:avLst>
          </a:prstGeom>
          <a:solidFill>
            <a:srgbClr val="FDFCFA"/>
          </a:solidFill>
          <a:ln w="6350">
            <a:solidFill>
              <a:srgbClr val="E3DFD4"/>
            </a:solidFill>
            <a:prstDash val="solid"/>
          </a:ln>
        </p:spPr>
        <p:txBody>
          <a:bodyPr wrap="square" lIns="134187" tIns="108787" rIns="83387" bIns="83387" rtlCol="0" anchor="t">
            <a:normAutofit/>
          </a:bodyPr>
          <a:lstStyle/>
          <a:p>
            <a:pPr algn="l" indent="0" marL="0">
              <a:lnSpc>
                <a:spcPts val="1620"/>
              </a:lnSpc>
              <a:buNone/>
            </a:pPr>
            <a:r>
              <a:rPr lang="en-US" sz="1200" dirty="0">
                <a:solidFill>
                  <a:srgbClr val="16243D"/>
                </a:solidFill>
                <a:latin typeface="IBM Plex Sans" pitchFamily="34" charset="0"/>
                <a:ea typeface="IBM Plex Sans" pitchFamily="34" charset="-122"/>
                <a:cs typeface="IBM Plex Sans" pitchFamily="34" charset="-120"/>
              </a:rPr>
              <a:t>API reloads, no restart</a:t>
            </a:r>
            <a:endParaRPr lang="en-US" sz="1200" dirty="0"/>
          </a:p>
        </p:txBody>
      </p:sp>
      <p:sp>
        <p:nvSpPr>
          <p:cNvPr id="25" name="Text 19"/>
          <p:cNvSpPr/>
          <p:nvPr/>
        </p:nvSpPr>
        <p:spPr>
          <a:xfrm>
            <a:off x="812800" y="47445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36A"/>
                </a:solidFill>
                <a:latin typeface="IBM Plex Sans" pitchFamily="34" charset="0"/>
                <a:ea typeface="IBM Plex Sans" pitchFamily="34" charset="-122"/>
                <a:cs typeface="IBM Plex Sans" pitchFamily="34" charset="-120"/>
              </a:rPr>
              <a:t>Rollback is the same command with the old version. Tested while the API kept serving.</a:t>
            </a:r>
            <a:endParaRPr lang="en-US" sz="1400" dirty="0"/>
          </a:p>
        </p:txBody>
      </p:sp>
      <p:sp>
        <p:nvSpPr>
          <p:cNvPr id="26"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27"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DEPLOYMENT · BATCH AND REAL-TIME</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Same score from the morning list and the API</a:t>
            </a:r>
            <a:endParaRPr lang="en-US" sz="3200" dirty="0"/>
          </a:p>
        </p:txBody>
      </p:sp>
      <p:sp>
        <p:nvSpPr>
          <p:cNvPr id="4" name="Shape 2"/>
          <p:cNvSpPr/>
          <p:nvPr/>
        </p:nvSpPr>
        <p:spPr>
          <a:xfrm>
            <a:off x="815975" y="1831925"/>
            <a:ext cx="5784850" cy="2848223"/>
          </a:xfrm>
          <a:prstGeom prst="roundRect">
            <a:avLst>
              <a:gd name="adj" fmla="val 2564"/>
            </a:avLst>
          </a:prstGeom>
          <a:solidFill>
            <a:srgbClr val="FDFCFA"/>
          </a:solidFill>
          <a:ln w="6350">
            <a:solidFill>
              <a:srgbClr val="E3DFD4"/>
            </a:solidFill>
            <a:prstDash val="solid"/>
          </a:ln>
        </p:spPr>
      </p:sp>
      <p:sp>
        <p:nvSpPr>
          <p:cNvPr id="5" name="Text 3"/>
          <p:cNvSpPr/>
          <p:nvPr/>
        </p:nvSpPr>
        <p:spPr>
          <a:xfrm>
            <a:off x="1022350" y="2038300"/>
            <a:ext cx="553326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Batch · every morning, top 500</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401491"/>
          <a:ext cx="5359400" cy="1544042"/>
        </p:xfrm>
        <a:graphic>
          <a:graphicData uri="http://schemas.openxmlformats.org/drawingml/2006/table">
            <a:tbl>
              <a:tblPr/>
              <a:tblGrid>
                <a:gridCol w="535940"/>
                <a:gridCol w="1286256"/>
                <a:gridCol w="750316"/>
                <a:gridCol w="2786888"/>
              </a:tblGrid>
              <a:tr h="332680">
                <a:tc>
                  <a:txBody>
                    <a:bodyPr/>
                    <a:lstStyle/>
                    <a:p>
                      <a:pPr indent="0" marL="0">
                        <a:lnSpc>
                          <a:spcPts val="1680"/>
                        </a:lnSpc>
                        <a:buNone/>
                      </a:pPr>
                      <a:r>
                        <a:rPr lang="en-US" sz="1200" b="1" dirty="0">
                          <a:solidFill>
                            <a:srgbClr val="16243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680"/>
                        </a:lnSpc>
                        <a:buNone/>
                      </a:pPr>
                      <a:r>
                        <a:rPr lang="en-US" sz="1200" b="1" dirty="0">
                          <a:solidFill>
                            <a:srgbClr val="16243D"/>
                          </a:solidFill>
                          <a:latin typeface="IBM Plex Sans" pitchFamily="34" charset="0"/>
                          <a:ea typeface="IBM Plex Sans" pitchFamily="34" charset="-122"/>
                          <a:cs typeface="IBM Plex Sans" pitchFamily="34" charset="-120"/>
                        </a:rPr>
                        <a:t>Account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algn="r" indent="0" marL="0">
                        <a:lnSpc>
                          <a:spcPts val="1680"/>
                        </a:lnSpc>
                        <a:buNone/>
                      </a:pPr>
                      <a:r>
                        <a:rPr lang="en-US" sz="1200" b="1" dirty="0">
                          <a:solidFill>
                            <a:srgbClr val="16243D"/>
                          </a:solidFill>
                          <a:latin typeface="IBM Plex Sans" pitchFamily="34" charset="0"/>
                          <a:ea typeface="IBM Plex Sans" pitchFamily="34" charset="-122"/>
                          <a:cs typeface="IBM Plex Sans" pitchFamily="34" charset="-120"/>
                        </a:rPr>
                        <a:t>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680"/>
                        </a:lnSpc>
                        <a:buNone/>
                      </a:pPr>
                      <a:r>
                        <a:rPr lang="en-US" sz="1200" b="1" dirty="0">
                          <a:solidFill>
                            <a:srgbClr val="16243D"/>
                          </a:solidFill>
                          <a:latin typeface="IBM Plex Sans" pitchFamily="34" charset="0"/>
                          <a:ea typeface="IBM Plex Sans" pitchFamily="34" charset="-122"/>
                          <a:cs typeface="IBM Plex Sans" pitchFamily="34" charset="-120"/>
                        </a:rPr>
                        <a:t>Top reason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r>
              <a:tr h="546001">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811D80C30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algn="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0.447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money goes both ways with 3 accounts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AAC"/>
                      </a:solidFill>
                      <a:prstDash val="solid"/>
                      <a:round/>
                      <a:headEnd type="none" w="med" len="med"/>
                      <a:tailEnd type="none" w="med" len="med"/>
                    </a:lnL>
                    <a:lnR w="12700" cap="flat" cmpd="sng" algn="ctr">
                      <a:solidFill>
                        <a:srgbClr val="C8BAAC"/>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8BAAC"/>
                      </a:solidFill>
                      <a:prstDash val="solid"/>
                      <a:round/>
                      <a:headEnd type="none" w="med" len="med"/>
                      <a:tailEnd type="none" w="med" len="med"/>
                    </a:lnB>
                    <a:solidFill>
                      <a:srgbClr val="FBE9D7"/>
                    </a:solidFill>
                  </a:tcPr>
                </a:tc>
              </a:tr>
              <a:tr h="332680">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80C6F48A0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0.336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received from 8 different banks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8BAA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8010D4440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algn="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0.255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680"/>
                        </a:lnSpc>
                        <a:buNone/>
                      </a:pPr>
                      <a:r>
                        <a:rPr lang="en-US" sz="1200" dirty="0">
                          <a:solidFill>
                            <a:srgbClr val="16243D"/>
                          </a:solidFill>
                          <a:latin typeface="IBM Plex Sans" pitchFamily="34" charset="0"/>
                          <a:ea typeface="IBM Plex Sans" pitchFamily="34" charset="-122"/>
                          <a:cs typeface="IBM Plex Sans" pitchFamily="34" charset="-120"/>
                        </a:rPr>
                        <a:t>last payment 1 hour ago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7" name="Text 4"/>
          <p:cNvSpPr/>
          <p:nvPr/>
        </p:nvSpPr>
        <p:spPr>
          <a:xfrm>
            <a:off x="1022350" y="4047133"/>
            <a:ext cx="55332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All three were laundering accounts. Champion and challenger scores are both kept for the monitor.</a:t>
            </a:r>
            <a:endParaRPr lang="en-US" sz="1200" dirty="0"/>
          </a:p>
        </p:txBody>
      </p:sp>
      <p:sp>
        <p:nvSpPr>
          <p:cNvPr id="8" name="Shape 5"/>
          <p:cNvSpPr/>
          <p:nvPr/>
        </p:nvSpPr>
        <p:spPr>
          <a:xfrm>
            <a:off x="6807200" y="1828750"/>
            <a:ext cx="4572000" cy="2854573"/>
          </a:xfrm>
          <a:prstGeom prst="roundRect">
            <a:avLst>
              <a:gd name="adj" fmla="val 2669"/>
            </a:avLst>
          </a:prstGeom>
          <a:solidFill>
            <a:srgbClr val="16243D"/>
          </a:solidFill>
          <a:ln/>
        </p:spPr>
      </p:sp>
      <p:sp>
        <p:nvSpPr>
          <p:cNvPr id="9" name="Text 6"/>
          <p:cNvSpPr/>
          <p:nvPr/>
        </p:nvSpPr>
        <p:spPr>
          <a:xfrm>
            <a:off x="7010400" y="2031950"/>
            <a:ext cx="42905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API · any time</a:t>
            </a:r>
            <a:endParaRPr lang="en-US" sz="1400" dirty="0"/>
          </a:p>
        </p:txBody>
      </p:sp>
      <p:sp>
        <p:nvSpPr>
          <p:cNvPr id="10" name="Text 7"/>
          <p:cNvSpPr/>
          <p:nvPr/>
        </p:nvSpPr>
        <p:spPr>
          <a:xfrm>
            <a:off x="7010400" y="2382441"/>
            <a:ext cx="429056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0A04B"/>
                </a:solidFill>
                <a:latin typeface="IBM Plex Mono" pitchFamily="49" charset="0"/>
                <a:ea typeface="IBM Plex Mono" pitchFamily="49" charset="-122"/>
                <a:cs typeface="IBM Plex Mono" pitchFamily="49" charset="-120"/>
              </a:rPr>
              <a:t>GET /accounts/811D80C30</a:t>
            </a:r>
            <a:endParaRPr lang="en-US" sz="1200" dirty="0"/>
          </a:p>
        </p:txBody>
      </p:sp>
      <p:sp>
        <p:nvSpPr>
          <p:cNvPr id="11" name="Text 8"/>
          <p:cNvSpPr/>
          <p:nvPr/>
        </p:nvSpPr>
        <p:spPr>
          <a:xfrm>
            <a:off x="7010400" y="2712641"/>
            <a:ext cx="4290568"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2E0"/>
                </a:solidFill>
                <a:latin typeface="IBM Plex Mono" pitchFamily="49" charset="0"/>
                <a:ea typeface="IBM Plex Mono" pitchFamily="49" charset="-122"/>
                <a:cs typeface="IBM Plex Mono" pitchFamily="49" charset="-120"/>
              </a:rPr>
              <a:t>score 0.4467 · alert rank 1</a:t>
            </a:r>
            <a:endParaRPr lang="en-US" sz="1200" dirty="0"/>
          </a:p>
          <a:p>
            <a:pPr algn="l" indent="0" marL="0">
              <a:lnSpc>
                <a:spcPts val="1800"/>
              </a:lnSpc>
              <a:buNone/>
            </a:pPr>
            <a:r>
              <a:rPr lang="en-US" sz="1200" dirty="0">
                <a:solidFill>
                  <a:srgbClr val="C9D2E0"/>
                </a:solidFill>
                <a:latin typeface="IBM Plex Mono" pitchFamily="49" charset="0"/>
                <a:ea typeface="IBM Plex Mono" pitchFamily="49" charset="-122"/>
                <a:cs typeface="IBM Plex Mono" pitchFamily="49" charset="-120"/>
              </a:rPr>
              <a:t>model version 2</a:t>
            </a:r>
            <a:endParaRPr lang="en-US" sz="1200" dirty="0"/>
          </a:p>
          <a:p>
            <a:pPr algn="l" indent="0" marL="0">
              <a:lnSpc>
                <a:spcPts val="1800"/>
              </a:lnSpc>
              <a:buNone/>
            </a:pPr>
            <a:r>
              <a:rPr lang="en-US" sz="1200" dirty="0">
                <a:solidFill>
                  <a:srgbClr val="C9D2E0"/>
                </a:solidFill>
                <a:latin typeface="IBM Plex Mono" pitchFamily="49" charset="0"/>
                <a:ea typeface="IBM Plex Mono" pitchFamily="49" charset="-122"/>
                <a:cs typeface="IBM Plex Mono" pitchFamily="49" charset="-120"/>
              </a:rPr>
              <a:t>"100% of sent payments are ACH"</a:t>
            </a:r>
            <a:endParaRPr lang="en-US" sz="1200" dirty="0"/>
          </a:p>
          <a:p>
            <a:pPr algn="l" indent="0" marL="0">
              <a:lnSpc>
                <a:spcPts val="1800"/>
              </a:lnSpc>
              <a:buNone/>
            </a:pPr>
            <a:r>
              <a:rPr lang="en-US" sz="1200" dirty="0">
                <a:solidFill>
                  <a:srgbClr val="C9D2E0"/>
                </a:solidFill>
                <a:latin typeface="IBM Plex Mono" pitchFamily="49" charset="0"/>
                <a:ea typeface="IBM Plex Mono" pitchFamily="49" charset="-122"/>
                <a:cs typeface="IBM Plex Mono" pitchFamily="49" charset="-120"/>
              </a:rPr>
              <a:t>"money goes both ways with 3 accounts"</a:t>
            </a:r>
            <a:endParaRPr lang="en-US" sz="1200" dirty="0"/>
          </a:p>
          <a:p>
            <a:pPr algn="l" indent="0" marL="0">
              <a:lnSpc>
                <a:spcPts val="1800"/>
              </a:lnSpc>
              <a:buNone/>
            </a:pPr>
            <a:r>
              <a:rPr lang="en-US" sz="1200" dirty="0">
                <a:solidFill>
                  <a:srgbClr val="C9D2E0"/>
                </a:solidFill>
                <a:latin typeface="IBM Plex Mono" pitchFamily="49" charset="0"/>
                <a:ea typeface="IBM Plex Mono" pitchFamily="49" charset="-122"/>
                <a:cs typeface="IBM Plex Mono" pitchFamily="49" charset="-120"/>
              </a:rPr>
              <a:t>"last payment 4 hours ago"</a:t>
            </a:r>
            <a:endParaRPr lang="en-US" sz="1200" dirty="0"/>
          </a:p>
        </p:txBody>
      </p:sp>
      <p:sp>
        <p:nvSpPr>
          <p:cNvPr id="12" name="Text 9"/>
          <p:cNvSpPr/>
          <p:nvPr/>
        </p:nvSpPr>
        <p:spPr>
          <a:xfrm>
            <a:off x="812800" y="4861123"/>
            <a:ext cx="348823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43D"/>
                </a:solidFill>
                <a:latin typeface="IBM Plex Sans" pitchFamily="34" charset="0"/>
                <a:ea typeface="IBM Plex Sans" pitchFamily="34" charset="-122"/>
                <a:cs typeface="IBM Plex Sans" pitchFamily="34" charset="-120"/>
              </a:rPr>
              <a:t>250k accounts</a:t>
            </a:r>
            <a:endParaRPr lang="en-US" sz="2000" dirty="0"/>
          </a:p>
        </p:txBody>
      </p:sp>
      <p:sp>
        <p:nvSpPr>
          <p:cNvPr id="13" name="Text 10"/>
          <p:cNvSpPr/>
          <p:nvPr/>
        </p:nvSpPr>
        <p:spPr>
          <a:xfrm>
            <a:off x="812800" y="5242123"/>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scored by the batch job in seconds</a:t>
            </a:r>
            <a:endParaRPr lang="en-US" sz="1200" dirty="0"/>
          </a:p>
        </p:txBody>
      </p:sp>
      <p:sp>
        <p:nvSpPr>
          <p:cNvPr id="14" name="Text 11"/>
          <p:cNvSpPr/>
          <p:nvPr/>
        </p:nvSpPr>
        <p:spPr>
          <a:xfrm>
            <a:off x="4402634" y="4861123"/>
            <a:ext cx="34882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43D"/>
                </a:solidFill>
                <a:latin typeface="IBM Plex Sans" pitchFamily="34" charset="0"/>
                <a:ea typeface="IBM Plex Sans" pitchFamily="34" charset="-122"/>
                <a:cs typeface="IBM Plex Sans" pitchFamily="34" charset="-120"/>
              </a:rPr>
              <a:t>5 ms</a:t>
            </a:r>
            <a:endParaRPr lang="en-US" sz="2000" dirty="0"/>
          </a:p>
        </p:txBody>
      </p:sp>
      <p:sp>
        <p:nvSpPr>
          <p:cNvPr id="15" name="Text 12"/>
          <p:cNvSpPr/>
          <p:nvPr/>
        </p:nvSpPr>
        <p:spPr>
          <a:xfrm>
            <a:off x="4402634" y="5242123"/>
            <a:ext cx="3488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per API lookup after the first call</a:t>
            </a:r>
            <a:endParaRPr lang="en-US" sz="1200" dirty="0"/>
          </a:p>
        </p:txBody>
      </p:sp>
      <p:sp>
        <p:nvSpPr>
          <p:cNvPr id="16" name="Text 13"/>
          <p:cNvSpPr/>
          <p:nvPr/>
        </p:nvSpPr>
        <p:spPr>
          <a:xfrm>
            <a:off x="7992517" y="4861123"/>
            <a:ext cx="34882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43D"/>
                </a:solidFill>
                <a:latin typeface="IBM Plex Sans" pitchFamily="34" charset="0"/>
                <a:ea typeface="IBM Plex Sans" pitchFamily="34" charset="-122"/>
                <a:cs typeface="IBM Plex Sans" pitchFamily="34" charset="-120"/>
              </a:rPr>
              <a:t>Stateless</a:t>
            </a:r>
            <a:endParaRPr lang="en-US" sz="2000" dirty="0"/>
          </a:p>
        </p:txBody>
      </p:sp>
      <p:sp>
        <p:nvSpPr>
          <p:cNvPr id="17" name="Text 14"/>
          <p:cNvSpPr/>
          <p:nvPr/>
        </p:nvSpPr>
        <p:spPr>
          <a:xfrm>
            <a:off x="7992517" y="5242123"/>
            <a:ext cx="3488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API container scales out behind a load balancer</a:t>
            </a:r>
            <a:endParaRPr lang="en-US" sz="1200" dirty="0"/>
          </a:p>
        </p:txBody>
      </p:sp>
      <p:sp>
        <p:nvSpPr>
          <p:cNvPr id="18"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9"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MONITORING</a:t>
            </a:r>
            <a:endParaRPr lang="en-US" sz="1200" dirty="0"/>
          </a:p>
        </p:txBody>
      </p:sp>
      <p:sp>
        <p:nvSpPr>
          <p:cNvPr id="3" name="Text 1"/>
          <p:cNvSpPr/>
          <p:nvPr>
            <p:ph type="title"/>
          </p:nvPr>
        </p:nvSpPr>
        <p:spPr>
          <a:xfrm>
            <a:off x="812800" y="1178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The monitor caught real drift on day one</a:t>
            </a:r>
            <a:endParaRPr lang="en-US" sz="3200" dirty="0"/>
          </a:p>
        </p:txBody>
      </p:sp>
      <p:sp>
        <p:nvSpPr>
          <p:cNvPr id="4" name="Shape 2"/>
          <p:cNvSpPr/>
          <p:nvPr/>
        </p:nvSpPr>
        <p:spPr>
          <a:xfrm>
            <a:off x="812800" y="1777950"/>
            <a:ext cx="8890000" cy="3130550"/>
          </a:xfrm>
          <a:prstGeom prst="roundRect">
            <a:avLst>
              <a:gd name="adj" fmla="val 2434"/>
            </a:avLst>
          </a:prstGeom>
          <a:solidFill>
            <a:srgbClr val="FFFFFF"/>
          </a:solidFill>
          <a:ln/>
        </p:spPr>
      </p:sp>
      <p:pic>
        <p:nvPicPr>
          <p:cNvPr id="5" name="Image 0" descr="Left: the champion's top 10 features by share of absolute SHAP, led by average received amount percentile at 34% and hours since last transaction at 16%. Right: PSI on Sep 9 against the training snapshot: hours since last transaction 1.87, active span hours 1.24 and out/in ratio 0.27 are above the 0.25 drift line">    </p:cNvPr>
          <p:cNvPicPr>
            <a:picLocks noChangeAspect="1"/>
          </p:cNvPicPr>
          <p:nvPr/>
        </p:nvPicPr>
        <p:blipFill>
          <a:blip r:embed="rId1"/>
          <a:srcRect l="-115" r="-115" t="0" b="0"/>
          <a:stretch/>
        </p:blipFill>
        <p:spPr>
          <a:xfrm>
            <a:off x="819150" y="1784300"/>
            <a:ext cx="8877300" cy="3117850"/>
          </a:xfrm>
          <a:prstGeom prst="roundRect">
            <a:avLst>
              <a:gd name="adj" fmla="val 2240"/>
            </a:avLst>
          </a:prstGeom>
        </p:spPr>
      </p:pic>
      <p:sp>
        <p:nvSpPr>
          <p:cNvPr id="6" name="Shape 3"/>
          <p:cNvSpPr/>
          <p:nvPr/>
        </p:nvSpPr>
        <p:spPr>
          <a:xfrm>
            <a:off x="815975" y="1781125"/>
            <a:ext cx="8883650" cy="3124200"/>
          </a:xfrm>
          <a:prstGeom prst="roundRect">
            <a:avLst>
              <a:gd name="adj" fmla="val 2337"/>
            </a:avLst>
          </a:prstGeom>
          <a:noFill/>
          <a:ln w="6350">
            <a:solidFill>
              <a:srgbClr val="E3DFD4"/>
            </a:solidFill>
            <a:prstDash val="solid"/>
          </a:ln>
        </p:spPr>
      </p:sp>
      <p:sp>
        <p:nvSpPr>
          <p:cNvPr id="7" name="Text 4"/>
          <p:cNvSpPr/>
          <p:nvPr/>
        </p:nvSpPr>
        <p:spPr>
          <a:xfrm>
            <a:off x="812800" y="5060900"/>
            <a:ext cx="10566400" cy="751780"/>
          </a:xfrm>
          <a:prstGeom prst="roundRect">
            <a:avLst>
              <a:gd name="adj" fmla="val 10136"/>
            </a:avLst>
          </a:prstGeom>
          <a:solidFill>
            <a:srgbClr val="FBE9D7"/>
          </a:solidFill>
          <a:ln/>
        </p:spPr>
        <p:txBody>
          <a:bodyPr wrap="square" lIns="180882" tIns="91982" rIns="0" bIns="91982" rtlCol="0" anchor="ctr">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Why:</a:t>
            </a:r>
            <a:r>
              <a:rPr lang="en-US" sz="1400" dirty="0">
                <a:solidFill>
                  <a:srgbClr val="16243D"/>
                </a:solidFill>
                <a:latin typeface="IBM Plex Sans" pitchFamily="34" charset="0"/>
                <a:ea typeface="IBM Plex Sans" pitchFamily="34" charset="-122"/>
                <a:cs typeface="IBM Plex Sans" pitchFamily="34" charset="-120"/>
              </a:rPr>
              <a:t> the training window (Thu-Sun) has a weekend, Sep 9's window (Mon-Thu) does not, so recency features shift. Drift alert, a person ran the training DAG, new v5 and v6 wait in shadow.</a:t>
            </a:r>
            <a:endParaRPr lang="en-US" sz="14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RESULTS · TEST DAY SEP 9 · 534 LAUNDERERS IN 253K ACCOUNTS</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47 laundering accounts in the top 500</a:t>
            </a:r>
            <a:endParaRPr lang="en-US" sz="3200" dirty="0"/>
          </a:p>
        </p:txBody>
      </p:sp>
      <p:sp>
        <p:nvSpPr>
          <p:cNvPr id="4" name="Shape 2"/>
          <p:cNvSpPr/>
          <p:nvPr/>
        </p:nvSpPr>
        <p:spPr>
          <a:xfrm>
            <a:off x="812800" y="1828750"/>
            <a:ext cx="6604000" cy="3003550"/>
          </a:xfrm>
          <a:prstGeom prst="roundRect">
            <a:avLst>
              <a:gd name="adj" fmla="val 2537"/>
            </a:avLst>
          </a:prstGeom>
          <a:solidFill>
            <a:srgbClr val="FFFFFF"/>
          </a:solidFill>
          <a:ln/>
        </p:spPr>
      </p:sp>
      <p:pic>
        <p:nvPicPr>
          <p:cNvPr id="5" name="Image 0" descr="Precision at K on the test day for K from 100 to 5000. At K = 500: LightGBM plus graph 13.8%, LightGBM 9.4%, logistic regression 5.0%, rule by out_cnt 4.2%, random list 0.21%">    </p:cNvPr>
          <p:cNvPicPr>
            <a:picLocks noChangeAspect="1"/>
          </p:cNvPicPr>
          <p:nvPr/>
        </p:nvPicPr>
        <p:blipFill>
          <a:blip r:embed="rId1"/>
          <a:srcRect l="-87" r="-87" t="0" b="0"/>
          <a:stretch/>
        </p:blipFill>
        <p:spPr>
          <a:xfrm>
            <a:off x="819150" y="1835100"/>
            <a:ext cx="6591300" cy="2990850"/>
          </a:xfrm>
          <a:prstGeom prst="roundRect">
            <a:avLst>
              <a:gd name="adj" fmla="val 2335"/>
            </a:avLst>
          </a:prstGeom>
        </p:spPr>
      </p:pic>
      <p:sp>
        <p:nvSpPr>
          <p:cNvPr id="6" name="Shape 3"/>
          <p:cNvSpPr/>
          <p:nvPr/>
        </p:nvSpPr>
        <p:spPr>
          <a:xfrm>
            <a:off x="815975" y="1831925"/>
            <a:ext cx="6597650" cy="2997200"/>
          </a:xfrm>
          <a:prstGeom prst="roundRect">
            <a:avLst>
              <a:gd name="adj" fmla="val 2436"/>
            </a:avLst>
          </a:prstGeom>
          <a:noFill/>
          <a:ln w="6350">
            <a:solidFill>
              <a:srgbClr val="E3DFD4"/>
            </a:solidFill>
            <a:prstDash val="solid"/>
          </a:ln>
        </p:spPr>
      </p:sp>
      <p:sp>
        <p:nvSpPr>
          <p:cNvPr id="7" name="Shape 4"/>
          <p:cNvSpPr/>
          <p:nvPr/>
        </p:nvSpPr>
        <p:spPr>
          <a:xfrm>
            <a:off x="7673975" y="1831925"/>
            <a:ext cx="3702050" cy="933400"/>
          </a:xfrm>
          <a:prstGeom prst="roundRect">
            <a:avLst>
              <a:gd name="adj" fmla="val 7824"/>
            </a:avLst>
          </a:prstGeom>
          <a:solidFill>
            <a:srgbClr val="FDFCFA"/>
          </a:solidFill>
          <a:ln w="6350">
            <a:solidFill>
              <a:srgbClr val="E3DFD4"/>
            </a:solidFill>
            <a:prstDash val="solid"/>
          </a:ln>
        </p:spPr>
      </p:sp>
      <p:sp>
        <p:nvSpPr>
          <p:cNvPr id="8" name="Text 5"/>
          <p:cNvSpPr/>
          <p:nvPr/>
        </p:nvSpPr>
        <p:spPr>
          <a:xfrm>
            <a:off x="7854950" y="1962100"/>
            <a:ext cx="344030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43D"/>
                </a:solidFill>
                <a:latin typeface="IBM Plex Sans" pitchFamily="34" charset="0"/>
                <a:ea typeface="IBM Plex Sans" pitchFamily="34" charset="-122"/>
                <a:cs typeface="IBM Plex Sans" pitchFamily="34" charset="-120"/>
              </a:rPr>
              <a:t>9 of 10</a:t>
            </a:r>
            <a:endParaRPr lang="en-US" sz="3200" dirty="0"/>
          </a:p>
        </p:txBody>
      </p:sp>
      <p:sp>
        <p:nvSpPr>
          <p:cNvPr id="9" name="Text 6"/>
          <p:cNvSpPr/>
          <p:nvPr/>
        </p:nvSpPr>
        <p:spPr>
          <a:xfrm>
            <a:off x="7854950" y="2421830"/>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top accounts were laundering</a:t>
            </a:r>
            <a:endParaRPr lang="en-US" sz="1200" dirty="0"/>
          </a:p>
        </p:txBody>
      </p:sp>
      <p:sp>
        <p:nvSpPr>
          <p:cNvPr id="10" name="Shape 7"/>
          <p:cNvSpPr/>
          <p:nvPr/>
        </p:nvSpPr>
        <p:spPr>
          <a:xfrm>
            <a:off x="7673975" y="2898676"/>
            <a:ext cx="3702050" cy="933400"/>
          </a:xfrm>
          <a:prstGeom prst="roundRect">
            <a:avLst>
              <a:gd name="adj" fmla="val 7824"/>
            </a:avLst>
          </a:prstGeom>
          <a:solidFill>
            <a:srgbClr val="FDFCFA"/>
          </a:solidFill>
          <a:ln w="6350">
            <a:solidFill>
              <a:srgbClr val="E3DFD4"/>
            </a:solidFill>
            <a:prstDash val="solid"/>
          </a:ln>
        </p:spPr>
      </p:sp>
      <p:sp>
        <p:nvSpPr>
          <p:cNvPr id="11" name="Text 8"/>
          <p:cNvSpPr/>
          <p:nvPr/>
        </p:nvSpPr>
        <p:spPr>
          <a:xfrm>
            <a:off x="7854950" y="3028851"/>
            <a:ext cx="344030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43D"/>
                </a:solidFill>
                <a:latin typeface="IBM Plex Sans" pitchFamily="34" charset="0"/>
                <a:ea typeface="IBM Plex Sans" pitchFamily="34" charset="-122"/>
                <a:cs typeface="IBM Plex Sans" pitchFamily="34" charset="-120"/>
              </a:rPr>
              <a:t>2.2×</a:t>
            </a:r>
            <a:endParaRPr lang="en-US" sz="3200" dirty="0"/>
          </a:p>
        </p:txBody>
      </p:sp>
      <p:sp>
        <p:nvSpPr>
          <p:cNvPr id="12" name="Text 9"/>
          <p:cNvSpPr/>
          <p:nvPr/>
        </p:nvSpPr>
        <p:spPr>
          <a:xfrm>
            <a:off x="7854950" y="3488581"/>
            <a:ext cx="3440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the best rule in the top 500 (47 vs 21)</a:t>
            </a:r>
            <a:endParaRPr lang="en-US" sz="1200" dirty="0"/>
          </a:p>
        </p:txBody>
      </p:sp>
      <p:sp>
        <p:nvSpPr>
          <p:cNvPr id="13" name="Shape 10"/>
          <p:cNvSpPr/>
          <p:nvPr/>
        </p:nvSpPr>
        <p:spPr>
          <a:xfrm>
            <a:off x="7670800" y="3962251"/>
            <a:ext cx="3708400" cy="1140371"/>
          </a:xfrm>
          <a:prstGeom prst="roundRect">
            <a:avLst>
              <a:gd name="adj" fmla="val 6682"/>
            </a:avLst>
          </a:prstGeom>
          <a:solidFill>
            <a:srgbClr val="FBE9D7"/>
          </a:solidFill>
          <a:ln/>
        </p:spPr>
      </p:sp>
      <p:sp>
        <p:nvSpPr>
          <p:cNvPr id="14" name="Text 11"/>
          <p:cNvSpPr/>
          <p:nvPr/>
        </p:nvSpPr>
        <p:spPr>
          <a:xfrm>
            <a:off x="7848600" y="4089251"/>
            <a:ext cx="345338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43D"/>
                </a:solidFill>
                <a:latin typeface="IBM Plex Sans" pitchFamily="34" charset="0"/>
                <a:ea typeface="IBM Plex Sans" pitchFamily="34" charset="-122"/>
                <a:cs typeface="IBM Plex Sans" pitchFamily="34" charset="-120"/>
              </a:rPr>
              <a:t>69</a:t>
            </a:r>
            <a:endParaRPr lang="en-US" sz="3200" dirty="0"/>
          </a:p>
        </p:txBody>
      </p:sp>
      <p:sp>
        <p:nvSpPr>
          <p:cNvPr id="15" name="Text 12"/>
          <p:cNvSpPr/>
          <p:nvPr/>
        </p:nvSpPr>
        <p:spPr>
          <a:xfrm>
            <a:off x="7848600" y="4548981"/>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in the shadow challenger's top 500: +4.2 points, 95% CI 2.2-6.2</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WHAT WE CATCH · RECALL@2000 BY PATTERN</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Good on fan-out and layering, weak on fan-in</a:t>
            </a:r>
            <a:endParaRPr lang="en-US" sz="3200" dirty="0"/>
          </a:p>
        </p:txBody>
      </p:sp>
      <p:sp>
        <p:nvSpPr>
          <p:cNvPr id="4" name="Shape 2"/>
          <p:cNvSpPr/>
          <p:nvPr/>
        </p:nvSpPr>
        <p:spPr>
          <a:xfrm>
            <a:off x="812800" y="1828750"/>
            <a:ext cx="6731000" cy="3016250"/>
          </a:xfrm>
          <a:prstGeom prst="roundRect">
            <a:avLst>
              <a:gd name="adj" fmla="val 2526"/>
            </a:avLst>
          </a:prstGeom>
          <a:solidFill>
            <a:srgbClr val="FFFFFF"/>
          </a:solidFill>
          <a:ln/>
        </p:spPr>
      </p:sp>
      <p:pic>
        <p:nvPicPr>
          <p:cNvPr id="5" name="Image 0" descr="Recall at 2000 by laundering pattern on the test day: fan-out 35%, scatter-gather and gather-scatter 25 to 30%, cycle 20%, bipartite and stack about 18% for LightGBM with stack at 28% with graph features, random 9 to 12%, fan-in 5% for all models">    </p:cNvPr>
          <p:cNvPicPr>
            <a:picLocks noChangeAspect="1"/>
          </p:cNvPicPr>
          <p:nvPr/>
        </p:nvPicPr>
        <p:blipFill>
          <a:blip r:embed="rId1"/>
          <a:srcRect l="-114" r="-114" t="0" b="0"/>
          <a:stretch/>
        </p:blipFill>
        <p:spPr>
          <a:xfrm>
            <a:off x="819150" y="1835100"/>
            <a:ext cx="6718300" cy="3003550"/>
          </a:xfrm>
          <a:prstGeom prst="roundRect">
            <a:avLst>
              <a:gd name="adj" fmla="val 2326"/>
            </a:avLst>
          </a:prstGeom>
        </p:spPr>
      </p:pic>
      <p:sp>
        <p:nvSpPr>
          <p:cNvPr id="6" name="Shape 3"/>
          <p:cNvSpPr/>
          <p:nvPr/>
        </p:nvSpPr>
        <p:spPr>
          <a:xfrm>
            <a:off x="815975" y="1831925"/>
            <a:ext cx="6724650" cy="3009900"/>
          </a:xfrm>
          <a:prstGeom prst="roundRect">
            <a:avLst>
              <a:gd name="adj" fmla="val 2426"/>
            </a:avLst>
          </a:prstGeom>
          <a:noFill/>
          <a:ln w="6350">
            <a:solidFill>
              <a:srgbClr val="E3DFD4"/>
            </a:solidFill>
            <a:prstDash val="solid"/>
          </a:ln>
        </p:spPr>
      </p:sp>
      <p:sp>
        <p:nvSpPr>
          <p:cNvPr id="7" name="Text 4"/>
          <p:cNvSpPr/>
          <p:nvPr/>
        </p:nvSpPr>
        <p:spPr>
          <a:xfrm>
            <a:off x="7797800" y="1828750"/>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Graph features help on layers</a:t>
            </a:r>
            <a:endParaRPr lang="en-US" sz="1400" dirty="0"/>
          </a:p>
        </p:txBody>
      </p:sp>
      <p:sp>
        <p:nvSpPr>
          <p:cNvPr id="8" name="Text 5"/>
          <p:cNvSpPr/>
          <p:nvPr/>
        </p:nvSpPr>
        <p:spPr>
          <a:xfrm>
            <a:off x="7797800" y="2115741"/>
            <a:ext cx="36888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Stack 18% to 28%, bipartite 18% to 21%: patterns only visible in the neighbourhood</a:t>
            </a:r>
            <a:endParaRPr lang="en-US" sz="1200" dirty="0"/>
          </a:p>
        </p:txBody>
      </p:sp>
      <p:sp>
        <p:nvSpPr>
          <p:cNvPr id="9" name="Text 6"/>
          <p:cNvSpPr/>
          <p:nvPr/>
        </p:nvSpPr>
        <p:spPr>
          <a:xfrm>
            <a:off x="7797800" y="2720181"/>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Fan-in stays hard: 5%</a:t>
            </a:r>
            <a:endParaRPr lang="en-US" sz="1400" dirty="0"/>
          </a:p>
        </p:txBody>
      </p:sp>
      <p:sp>
        <p:nvSpPr>
          <p:cNvPr id="10" name="Text 7"/>
          <p:cNvSpPr/>
          <p:nvPr/>
        </p:nvSpPr>
        <p:spPr>
          <a:xfrm>
            <a:off x="7797800" y="3007171"/>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Each source sends one normal-looking payment</a:t>
            </a:r>
            <a:endParaRPr lang="en-US" sz="1200" dirty="0"/>
          </a:p>
        </p:txBody>
      </p:sp>
      <p:sp>
        <p:nvSpPr>
          <p:cNvPr id="11" name="Text 8"/>
          <p:cNvSpPr/>
          <p:nvPr/>
        </p:nvSpPr>
        <p:spPr>
          <a:xfrm>
            <a:off x="7797800" y="3398292"/>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43D"/>
                </a:solidFill>
                <a:latin typeface="IBM Plex Sans" pitchFamily="34" charset="0"/>
                <a:ea typeface="IBM Plex Sans" pitchFamily="34" charset="-122"/>
                <a:cs typeface="IBM Plex Sans" pitchFamily="34" charset="-120"/>
              </a:rPr>
              <a:t>Ceiling: 75%</a:t>
            </a:r>
            <a:endParaRPr lang="en-US" sz="1400" dirty="0"/>
          </a:p>
        </p:txBody>
      </p:sp>
      <p:sp>
        <p:nvSpPr>
          <p:cNvPr id="12" name="Text 9"/>
          <p:cNvSpPr/>
          <p:nvPr/>
        </p:nvSpPr>
        <p:spPr>
          <a:xfrm>
            <a:off x="7797800" y="3685282"/>
            <a:ext cx="36888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36A"/>
                </a:solidFill>
                <a:latin typeface="IBM Plex Sans" pitchFamily="34" charset="0"/>
                <a:ea typeface="IBM Plex Sans" pitchFamily="34" charset="-122"/>
                <a:cs typeface="IBM Plex Sans" pitchFamily="34" charset="-120"/>
              </a:rPr>
              <a:t>1 in 4 launderers had no activity in the past 4 days, no model can score them</a:t>
            </a:r>
            <a:endParaRPr lang="en-US" sz="12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550F"/>
                </a:solidFill>
                <a:latin typeface="IBM Plex Sans" pitchFamily="34" charset="0"/>
                <a:ea typeface="IBM Plex Sans" pitchFamily="34" charset="-122"/>
                <a:cs typeface="IBM Plex Sans" pitchFamily="34" charset="-120"/>
              </a:rPr>
              <a:t>LIMITS AND NEXT STEPS</a:t>
            </a:r>
            <a:endParaRPr lang="en-US" sz="1200" dirty="0"/>
          </a:p>
        </p:txBody>
      </p:sp>
      <p:sp>
        <p:nvSpPr>
          <p:cNvPr id="3" name="Text 1"/>
          <p:cNvSpPr/>
          <p:nvPr>
            <p:ph type="title"/>
          </p:nvPr>
        </p:nvSpPr>
        <p:spPr>
          <a:xfrm>
            <a:off x="812800" y="1203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43D"/>
                </a:solidFill>
                <a:latin typeface="IBM Plex Sans" pitchFamily="34" charset="0"/>
                <a:ea typeface="IBM Plex Sans" pitchFamily="34" charset="-122"/>
                <a:cs typeface="IBM Plex Sans" pitchFamily="34" charset="-120"/>
              </a:rPr>
              <a:t>What we would do with real data</a:t>
            </a:r>
            <a:endParaRPr lang="en-US" sz="3200" dirty="0"/>
          </a:p>
        </p:txBody>
      </p:sp>
      <p:sp>
        <p:nvSpPr>
          <p:cNvPr id="4" name="Shape 2"/>
          <p:cNvSpPr/>
          <p:nvPr/>
        </p:nvSpPr>
        <p:spPr>
          <a:xfrm>
            <a:off x="815975" y="1831925"/>
            <a:ext cx="5175250" cy="1885950"/>
          </a:xfrm>
          <a:prstGeom prst="roundRect">
            <a:avLst>
              <a:gd name="adj" fmla="val 3872"/>
            </a:avLst>
          </a:prstGeom>
          <a:solidFill>
            <a:srgbClr val="FDFCFA"/>
          </a:solidFill>
          <a:ln w="6350">
            <a:solidFill>
              <a:srgbClr val="E3DFD4"/>
            </a:solidFill>
            <a:prstDash val="solid"/>
          </a:ln>
        </p:spPr>
      </p:sp>
      <p:sp>
        <p:nvSpPr>
          <p:cNvPr id="5" name="Text 3"/>
          <p:cNvSpPr/>
          <p:nvPr/>
        </p:nvSpPr>
        <p:spPr>
          <a:xfrm>
            <a:off x="1022350" y="203830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Limits</a:t>
            </a:r>
            <a:endParaRPr lang="en-US" sz="2000" dirty="0"/>
          </a:p>
        </p:txBody>
      </p:sp>
      <p:sp>
        <p:nvSpPr>
          <p:cNvPr id="6" name="Text 4"/>
          <p:cNvSpPr/>
          <p:nvPr/>
        </p:nvSpPr>
        <p:spPr>
          <a:xfrm>
            <a:off x="1100582" y="2444700"/>
            <a:ext cx="4819523"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Synthetic data: the ACH signal is a simulator quirk</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One labelled test day, about 550 positives</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4-day windows mix weekdays and weekends</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25% of launderers have no recent activity</a:t>
            </a:r>
            <a:endParaRPr lang="en-US" sz="1400" dirty="0"/>
          </a:p>
        </p:txBody>
      </p:sp>
      <p:sp>
        <p:nvSpPr>
          <p:cNvPr id="7" name="Shape 5"/>
          <p:cNvSpPr/>
          <p:nvPr/>
        </p:nvSpPr>
        <p:spPr>
          <a:xfrm>
            <a:off x="6200775" y="1831925"/>
            <a:ext cx="5175250" cy="1885950"/>
          </a:xfrm>
          <a:prstGeom prst="roundRect">
            <a:avLst>
              <a:gd name="adj" fmla="val 3872"/>
            </a:avLst>
          </a:prstGeom>
          <a:solidFill>
            <a:srgbClr val="FDFCFA"/>
          </a:solidFill>
          <a:ln w="6350">
            <a:solidFill>
              <a:srgbClr val="E3DFD4"/>
            </a:solidFill>
            <a:prstDash val="solid"/>
          </a:ln>
        </p:spPr>
      </p:sp>
      <p:sp>
        <p:nvSpPr>
          <p:cNvPr id="8" name="Text 6"/>
          <p:cNvSpPr/>
          <p:nvPr/>
        </p:nvSpPr>
        <p:spPr>
          <a:xfrm>
            <a:off x="6407150" y="203830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43D"/>
                </a:solidFill>
                <a:latin typeface="IBM Plex Sans" pitchFamily="34" charset="0"/>
                <a:ea typeface="IBM Plex Sans" pitchFamily="34" charset="-122"/>
                <a:cs typeface="IBM Plex Sans" pitchFamily="34" charset="-120"/>
              </a:rPr>
              <a:t>Next</a:t>
            </a:r>
            <a:endParaRPr lang="en-US" sz="2000" dirty="0"/>
          </a:p>
        </p:txBody>
      </p:sp>
      <p:sp>
        <p:nvSpPr>
          <p:cNvPr id="9" name="Text 7"/>
          <p:cNvSpPr/>
          <p:nvPr/>
        </p:nvSpPr>
        <p:spPr>
          <a:xfrm>
            <a:off x="6485382" y="2444700"/>
            <a:ext cx="4819523"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Investigator decisions as labels (feedback loop)</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7-day or volume-normalised features</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KYC and onboarding data for new accounts</a:t>
            </a:r>
            <a:endParaRPr lang="en-US" sz="1400" dirty="0"/>
          </a:p>
          <a:p>
            <a:pPr algn="l" marL="175768" indent="-175768">
              <a:lnSpc>
                <a:spcPts val="2100"/>
              </a:lnSpc>
              <a:buSzPct val="100000"/>
              <a:buChar char="•"/>
            </a:pPr>
            <a:r>
              <a:rPr lang="en-US" sz="1400" dirty="0">
                <a:solidFill>
                  <a:srgbClr val="46536A"/>
                </a:solidFill>
                <a:latin typeface="IBM Plex Sans" pitchFamily="34" charset="0"/>
                <a:ea typeface="IBM Plex Sans" pitchFamily="34" charset="-122"/>
                <a:cs typeface="IBM Plex Sans" pitchFamily="34" charset="-120"/>
              </a:rPr>
              <a:t>Run on AWS: MWAA, EMR, S3, ECS with RDS</a:t>
            </a:r>
            <a:endParaRPr lang="en-US" sz="1400" dirty="0"/>
          </a:p>
        </p:txBody>
      </p:sp>
      <p:sp>
        <p:nvSpPr>
          <p:cNvPr id="10" name="Shape 8"/>
          <p:cNvSpPr/>
          <p:nvPr/>
        </p:nvSpPr>
        <p:spPr>
          <a:xfrm>
            <a:off x="812800" y="3898850"/>
            <a:ext cx="10566400" cy="1117501"/>
          </a:xfrm>
          <a:prstGeom prst="roundRect">
            <a:avLst>
              <a:gd name="adj" fmla="val 6819"/>
            </a:avLst>
          </a:prstGeom>
          <a:solidFill>
            <a:srgbClr val="16243D"/>
          </a:solidFill>
          <a:ln/>
        </p:spPr>
      </p:sp>
      <p:sp>
        <p:nvSpPr>
          <p:cNvPr id="11" name="Text 9"/>
          <p:cNvSpPr/>
          <p:nvPr/>
        </p:nvSpPr>
        <p:spPr>
          <a:xfrm>
            <a:off x="1066800" y="4076650"/>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OUR RECOMMENDATION</a:t>
            </a:r>
            <a:endParaRPr lang="en-US" sz="1200" dirty="0"/>
          </a:p>
        </p:txBody>
      </p:sp>
      <p:sp>
        <p:nvSpPr>
          <p:cNvPr id="12" name="Text 10"/>
          <p:cNvSpPr/>
          <p:nvPr/>
        </p:nvSpPr>
        <p:spPr>
          <a:xfrm>
            <a:off x="1066800" y="4340771"/>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IBM Plex Sans" pitchFamily="34" charset="0"/>
                <a:ea typeface="IBM Plex Sans" pitchFamily="34" charset="-122"/>
                <a:cs typeface="IBM Plex Sans" pitchFamily="34" charset="-120"/>
              </a:rPr>
              <a:t>Keep the graph model in shadow for a few more labelled days. If it keeps beating the champion, move the alias: no code change, no downtime.</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577"/>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43D"/>
        </a:solidFill>
      </p:bgPr>
    </p:bg>
    <p:spTree>
      <p:nvGrpSpPr>
        <p:cNvPr id="1" name=""/>
        <p:cNvGrpSpPr/>
        <p:nvPr/>
      </p:nvGrpSpPr>
      <p:grpSpPr>
        <a:xfrm>
          <a:off x="0" y="0"/>
          <a:ext cx="0" cy="0"/>
          <a:chOff x="0" y="0"/>
          <a:chExt cx="0" cy="0"/>
        </a:xfrm>
      </p:grpSpPr>
      <p:sp>
        <p:nvSpPr>
          <p:cNvPr id="2" name="Text 0"/>
          <p:cNvSpPr/>
          <p:nvPr/>
        </p:nvSpPr>
        <p:spPr>
          <a:xfrm>
            <a:off x="812800" y="210447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AML ALERT SYSTEM · FINAL PRESENTATION</a:t>
            </a:r>
            <a:endParaRPr lang="en-US" sz="1200" dirty="0"/>
          </a:p>
        </p:txBody>
      </p:sp>
      <p:sp>
        <p:nvSpPr>
          <p:cNvPr id="3" name="Text 1"/>
          <p:cNvSpPr/>
          <p:nvPr>
            <p:ph type="title"/>
          </p:nvPr>
        </p:nvSpPr>
        <p:spPr>
          <a:xfrm>
            <a:off x="812800" y="252100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F"/>
                </a:solidFill>
                <a:latin typeface="IBM Plex Sans" pitchFamily="34" charset="0"/>
                <a:ea typeface="IBM Plex Sans" pitchFamily="34" charset="-122"/>
                <a:cs typeface="IBM Plex Sans" pitchFamily="34" charset="-120"/>
              </a:rPr>
              <a:t>Thank you</a:t>
            </a:r>
            <a:endParaRPr lang="en-US" sz="5600" dirty="0"/>
          </a:p>
        </p:txBody>
      </p:sp>
      <p:sp>
        <p:nvSpPr>
          <p:cNvPr id="4" name="Text 2"/>
          <p:cNvSpPr/>
          <p:nvPr/>
        </p:nvSpPr>
        <p:spPr>
          <a:xfrm>
            <a:off x="812800" y="347092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2E0"/>
                </a:solidFill>
                <a:latin typeface="IBM Plex Sans" pitchFamily="34" charset="0"/>
                <a:ea typeface="IBM Plex Sans" pitchFamily="34" charset="-122"/>
                <a:cs typeface="IBM Plex Sans" pitchFamily="34" charset="-120"/>
              </a:rPr>
              <a:t>Questions and feedback are welcome.</a:t>
            </a:r>
            <a:endParaRPr lang="en-US" sz="2000" dirty="0"/>
          </a:p>
        </p:txBody>
      </p:sp>
      <p:sp>
        <p:nvSpPr>
          <p:cNvPr id="5" name="Text 3"/>
          <p:cNvSpPr/>
          <p:nvPr/>
        </p:nvSpPr>
        <p:spPr>
          <a:xfrm>
            <a:off x="812800" y="4004320"/>
            <a:ext cx="151958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AIRFLOW</a:t>
            </a:r>
            <a:endParaRPr lang="en-US" sz="1200" dirty="0"/>
          </a:p>
        </p:txBody>
      </p:sp>
      <p:sp>
        <p:nvSpPr>
          <p:cNvPr id="6" name="Text 4"/>
          <p:cNvSpPr/>
          <p:nvPr/>
        </p:nvSpPr>
        <p:spPr>
          <a:xfrm>
            <a:off x="812800" y="4255740"/>
            <a:ext cx="151958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IBM Plex Mono" pitchFamily="49" charset="0"/>
                <a:ea typeface="IBM Plex Mono" pitchFamily="49" charset="-122"/>
                <a:cs typeface="IBM Plex Mono" pitchFamily="49" charset="-120"/>
              </a:rPr>
              <a:t>localhost:8081</a:t>
            </a:r>
            <a:endParaRPr lang="en-US" sz="1400" dirty="0"/>
          </a:p>
        </p:txBody>
      </p:sp>
      <p:sp>
        <p:nvSpPr>
          <p:cNvPr id="7" name="Text 5"/>
          <p:cNvSpPr/>
          <p:nvPr/>
        </p:nvSpPr>
        <p:spPr>
          <a:xfrm>
            <a:off x="2586385" y="4004320"/>
            <a:ext cx="151958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MLFLOW</a:t>
            </a:r>
            <a:endParaRPr lang="en-US" sz="1200" dirty="0"/>
          </a:p>
        </p:txBody>
      </p:sp>
      <p:sp>
        <p:nvSpPr>
          <p:cNvPr id="8" name="Text 6"/>
          <p:cNvSpPr/>
          <p:nvPr/>
        </p:nvSpPr>
        <p:spPr>
          <a:xfrm>
            <a:off x="2586385" y="4255740"/>
            <a:ext cx="151958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IBM Plex Mono" pitchFamily="49" charset="0"/>
                <a:ea typeface="IBM Plex Mono" pitchFamily="49" charset="-122"/>
                <a:cs typeface="IBM Plex Mono" pitchFamily="49" charset="-120"/>
              </a:rPr>
              <a:t>localhost:5001</a:t>
            </a:r>
            <a:endParaRPr lang="en-US" sz="1400" dirty="0"/>
          </a:p>
        </p:txBody>
      </p:sp>
      <p:sp>
        <p:nvSpPr>
          <p:cNvPr id="9" name="Text 7"/>
          <p:cNvSpPr/>
          <p:nvPr/>
        </p:nvSpPr>
        <p:spPr>
          <a:xfrm>
            <a:off x="4359970" y="4004320"/>
            <a:ext cx="205315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API</a:t>
            </a:r>
            <a:endParaRPr lang="en-US" sz="1200" dirty="0"/>
          </a:p>
        </p:txBody>
      </p:sp>
      <p:sp>
        <p:nvSpPr>
          <p:cNvPr id="10" name="Text 8"/>
          <p:cNvSpPr/>
          <p:nvPr/>
        </p:nvSpPr>
        <p:spPr>
          <a:xfrm>
            <a:off x="4359970" y="4255740"/>
            <a:ext cx="20531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IBM Plex Mono" pitchFamily="49" charset="0"/>
                <a:ea typeface="IBM Plex Mono" pitchFamily="49" charset="-122"/>
                <a:cs typeface="IBM Plex Mono" pitchFamily="49" charset="-120"/>
              </a:rPr>
              <a:t>localhost:8000/docs</a:t>
            </a:r>
            <a:endParaRPr lang="en-US" sz="1400" dirty="0"/>
          </a:p>
        </p:txBody>
      </p:sp>
      <p:sp>
        <p:nvSpPr>
          <p:cNvPr id="11" name="Text 9"/>
          <p:cNvSpPr/>
          <p:nvPr/>
        </p:nvSpPr>
        <p:spPr>
          <a:xfrm>
            <a:off x="6658124" y="4004320"/>
            <a:ext cx="486270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IBM Plex Sans" pitchFamily="34" charset="0"/>
                <a:ea typeface="IBM Plex Sans" pitchFamily="34" charset="-122"/>
                <a:cs typeface="IBM Plex Sans" pitchFamily="34" charset="-120"/>
              </a:rPr>
              <a:t>CODE</a:t>
            </a:r>
            <a:endParaRPr lang="en-US" sz="1200" dirty="0"/>
          </a:p>
        </p:txBody>
      </p:sp>
      <p:sp>
        <p:nvSpPr>
          <p:cNvPr id="12" name="Text 10"/>
          <p:cNvSpPr/>
          <p:nvPr/>
        </p:nvSpPr>
        <p:spPr>
          <a:xfrm>
            <a:off x="6658124" y="4255740"/>
            <a:ext cx="48627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F"/>
                </a:solidFill>
                <a:latin typeface="IBM Plex Mono" pitchFamily="49" charset="0"/>
                <a:ea typeface="IBM Plex Mono" pitchFamily="49" charset="-122"/>
                <a:cs typeface="IBM Plex Mono" pitchFamily="49" charset="-120"/>
              </a:rPr>
              <a:t>github.com/Alekhya-koda/Anti-Money-Laundering</a:t>
            </a:r>
            <a:endParaRPr lang="en-US" sz="1400" dirty="0"/>
          </a:p>
        </p:txBody>
      </p:sp>
    </p:spTree>
  </p:cSld>
  <p:clrMapOvr>
    <a:masterClrMapping/>
  </p:clrMapOvr>
</p:sld>
</file>

<file path=ppt/theme/theme1.xml><?xml version="1.0" encoding="utf-8"?>
<a:theme xmlns:a="http://schemas.openxmlformats.org/drawingml/2006/main" name="AML Alert System Final Presentation">
  <a:themeElements>
    <a:clrScheme name="AML Alert System Final Presentation">
      <a:dk1>
        <a:srgbClr val="16243D"/>
      </a:dk1>
      <a:lt1>
        <a:srgbClr val="F6F4EF"/>
      </a:lt1>
      <a:dk2>
        <a:srgbClr val="4E586A"/>
      </a:dk2>
      <a:lt2>
        <a:srgbClr val="E0DFDD"/>
      </a:lt2>
      <a:accent1>
        <a:srgbClr val="2A78D6"/>
      </a:accent1>
      <a:accent2>
        <a:srgbClr val="A8550F"/>
      </a:accent2>
      <a:accent3>
        <a:srgbClr val="F0A04B"/>
      </a:accent3>
      <a:accent4>
        <a:srgbClr val="EB6834"/>
      </a:accent4>
      <a:accent5>
        <a:srgbClr val="46536A"/>
      </a:accent5>
      <a:accent6>
        <a:srgbClr val="5D6577"/>
      </a:accent6>
      <a:hlink>
        <a:srgbClr val="0563C1"/>
      </a:hlink>
      <a:folHlink>
        <a:srgbClr val="954F72"/>
      </a:folHlink>
    </a:clrScheme>
    <a:fontScheme name="AML Alert System Final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AML Alert System Final Presentation</dc:title>
  <dc:subject/>
  <dc:creator/>
  <cp:lastModifiedBy/>
  <cp:revision>1</cp:revision>
  <dcterms:created xsi:type="dcterms:W3CDTF">2026-10-18T02:32:16Z</dcterms:created>
  <dcterms:modified xsi:type="dcterms:W3CDTF">2026-10-18T02:32:16Z</dcterms:modified>
</cp:coreProperties>
</file>